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/>
              <a:t>Cumulative finished videos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plan (30/wk)</c:v>
                </c:pt>
              </c:strCache>
            </c:strRef>
          </c:tx>
          <c:spPr>
            <a:ln w="28575">
              <a:solidFill>
                <a:srgbClr val="6B7280"/>
              </a:solidFill>
              <a:prstDash val="dash"/>
            </a:ln>
          </c:spPr>
          <c:marker>
            <c:spPr>
              <a:solidFill>
                <a:srgbClr val="6B7280"/>
              </a:solidFill>
              <a:ln>
                <a:solidFill>
                  <a:srgbClr val="6B7280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30</c:v>
                </c:pt>
                <c:pt idx="1">
                  <c:v>60</c:v>
                </c:pt>
                <c:pt idx="2">
                  <c:v>90</c:v>
                </c:pt>
                <c:pt idx="3">
                  <c:v>120</c:v>
                </c:pt>
                <c:pt idx="4">
                  <c:v>150</c:v>
                </c:pt>
                <c:pt idx="5">
                  <c:v>180</c:v>
                </c:pt>
                <c:pt idx="6">
                  <c:v>210</c:v>
                </c:pt>
                <c:pt idx="7">
                  <c:v>240</c:v>
                </c:pt>
                <c:pt idx="8">
                  <c:v>270</c:v>
                </c:pt>
                <c:pt idx="9">
                  <c:v>300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Recovery plan</c:v>
                </c:pt>
              </c:strCache>
            </c:strRef>
          </c:tx>
          <c:spPr>
            <a:ln w="28575">
              <a:solidFill>
                <a:srgbClr val="0F9D8A"/>
              </a:solidFill>
            </a:ln>
          </c:spPr>
          <c:marker>
            <c:spPr>
              <a:solidFill>
                <a:srgbClr val="0F9D8A"/>
              </a:solidFill>
              <a:ln>
                <a:solidFill>
                  <a:srgbClr val="0F9D8A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</c:v>
                </c:pt>
                <c:pt idx="1">
                  <c:v>20</c:v>
                </c:pt>
                <c:pt idx="2">
                  <c:v>45</c:v>
                </c:pt>
                <c:pt idx="3">
                  <c:v>81</c:v>
                </c:pt>
                <c:pt idx="4">
                  <c:v>117</c:v>
                </c:pt>
                <c:pt idx="5">
                  <c:v>154</c:v>
                </c:pt>
                <c:pt idx="6">
                  <c:v>190</c:v>
                </c:pt>
                <c:pt idx="7">
                  <c:v>227</c:v>
                </c:pt>
                <c:pt idx="8">
                  <c:v>263</c:v>
                </c:pt>
                <c:pt idx="9">
                  <c:v>300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00.0"/>
        </c:scaling>
        <c:delete val="0"/>
        <c:axPos val="l"/>
        <c:majorGridlines>
          <c:spPr>
            <a:ln>
              <a:solidFill>
                <a:srgbClr val="F3F4F6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111827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F9D8A"/>
                </a:solidFill>
                <a:latin typeface="Arial"/>
              </a:rPr>
              <a:t>1 · QUICK DIAGNOSIS OF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F2A44"/>
                </a:solidFill>
                <a:latin typeface="Arial"/>
              </a:rPr>
              <a:t>We finished 5 of 30 videos: rework in scripting and change churn in motion are choking the line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Luca · Chief of Staff hiring case · all data fictional   |   Source: outgoing PMO Week 1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6675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F2A44"/>
                </a:solidFill>
                <a:latin typeface="Arial"/>
              </a:rPr>
              <a:t>Units started vs. finished by stage (bar = 35 units)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23317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F2A44"/>
                </a:solidFill>
                <a:latin typeface="Arial"/>
              </a:rPr>
              <a:t>1. Brief &amp; content definition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Arial"/>
              </a:rPr>
              <a:t>Content Authors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920240"/>
            <a:ext cx="2240280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360" y="1920240"/>
            <a:ext cx="2240280" cy="3474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79" y="1920240"/>
            <a:ext cx="1280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35/35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810512"/>
            <a:ext cx="6858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2A44"/>
                </a:solidFill>
                <a:latin typeface="Arial"/>
              </a:rPr>
              <a:t>100%</a:t>
            </a:r>
          </a:p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finished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1810512"/>
            <a:ext cx="1325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11827"/>
                </a:solidFill>
                <a:latin typeface="Arial"/>
              </a:rPr>
              <a:t>1 h/unit · 0 blocked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468879"/>
            <a:ext cx="6812280" cy="676656"/>
          </a:xfrm>
          <a:prstGeom prst="roundRect">
            <a:avLst>
              <a:gd name="adj" fmla="val 8000"/>
            </a:avLst>
          </a:prstGeom>
          <a:solidFill>
            <a:srgbClr val="F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523744"/>
            <a:ext cx="23317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F2A44"/>
                </a:solidFill>
                <a:latin typeface="Arial"/>
              </a:rPr>
              <a:t>2. Script creation &amp; review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Arial"/>
              </a:rPr>
              <a:t>Scriptwriters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2633472"/>
            <a:ext cx="2240280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0360" y="2633472"/>
            <a:ext cx="1280160" cy="347472"/>
          </a:xfrm>
          <a:prstGeom prst="rect">
            <a:avLst/>
          </a:prstGeom>
          <a:solidFill>
            <a:srgbClr val="E8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79" y="2633472"/>
            <a:ext cx="1280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20/35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523744"/>
            <a:ext cx="6858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E86A4A"/>
                </a:solidFill>
                <a:latin typeface="Arial"/>
              </a:rPr>
              <a:t>57%</a:t>
            </a:r>
          </a:p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finished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2523744"/>
            <a:ext cx="1325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11827"/>
                </a:solidFill>
                <a:latin typeface="Arial"/>
              </a:rPr>
              <a:t>4 h/unit · 15 blocked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Misalignment with authors; heavy rework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" y="2679191"/>
            <a:ext cx="384048" cy="274320"/>
          </a:xfrm>
          <a:prstGeom prst="roundRect">
            <a:avLst>
              <a:gd name="adj" fmla="val 8000"/>
            </a:avLst>
          </a:prstGeom>
          <a:solidFill>
            <a:srgbClr val="E8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" y="2679191"/>
            <a:ext cx="384048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#1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236976"/>
            <a:ext cx="23317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F2A44"/>
                </a:solidFill>
                <a:latin typeface="Arial"/>
              </a:rPr>
              <a:t>3. Visual asset design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Arial"/>
              </a:rPr>
              <a:t>Graphic Designers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360" y="3346704"/>
            <a:ext cx="1280160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80360" y="3346704"/>
            <a:ext cx="960120" cy="3474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79" y="3346704"/>
            <a:ext cx="1280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15/20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3236976"/>
            <a:ext cx="6858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2A44"/>
                </a:solidFill>
                <a:latin typeface="Arial"/>
              </a:rPr>
              <a:t>75%</a:t>
            </a:r>
          </a:p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finished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3236976"/>
            <a:ext cx="1325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11827"/>
                </a:solidFill>
                <a:latin typeface="Arial"/>
              </a:rPr>
              <a:t>3 h/unit · 5 blocked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Waiting for final script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3895344"/>
            <a:ext cx="6812280" cy="676656"/>
          </a:xfrm>
          <a:prstGeom prst="roundRect">
            <a:avLst>
              <a:gd name="adj" fmla="val 8000"/>
            </a:avLst>
          </a:prstGeom>
          <a:solidFill>
            <a:srgbClr val="F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950208"/>
            <a:ext cx="23317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F2A44"/>
                </a:solidFill>
                <a:latin typeface="Arial"/>
              </a:rPr>
              <a:t>4. Motion graphics &amp; animation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Arial"/>
              </a:rPr>
              <a:t>Motion Designers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4059936"/>
            <a:ext cx="960120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80360" y="4059936"/>
            <a:ext cx="512064" cy="347472"/>
          </a:xfrm>
          <a:prstGeom prst="rect">
            <a:avLst/>
          </a:prstGeom>
          <a:solidFill>
            <a:srgbClr val="E8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79" y="4059936"/>
            <a:ext cx="1280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8/15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3950208"/>
            <a:ext cx="6858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E86A4A"/>
                </a:solidFill>
                <a:latin typeface="Arial"/>
              </a:rPr>
              <a:t>53%</a:t>
            </a:r>
          </a:p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finished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3950208"/>
            <a:ext cx="1325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11827"/>
                </a:solidFill>
                <a:latin typeface="Arial"/>
              </a:rPr>
              <a:t>5 h/unit · 7 blocked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Frequent changes from earlier stages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9728" y="4105656"/>
            <a:ext cx="384048" cy="274320"/>
          </a:xfrm>
          <a:prstGeom prst="roundRect">
            <a:avLst>
              <a:gd name="adj" fmla="val 8000"/>
            </a:avLst>
          </a:prstGeom>
          <a:solidFill>
            <a:srgbClr val="E8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" y="4105656"/>
            <a:ext cx="384048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#2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663440"/>
            <a:ext cx="23317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F2A44"/>
                </a:solidFill>
                <a:latin typeface="Arial"/>
              </a:rPr>
              <a:t>5. Final video (Synthesia + sound)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Arial"/>
              </a:rPr>
              <a:t>Synthesia / Sound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360" y="4773168"/>
            <a:ext cx="512064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80360" y="4773168"/>
            <a:ext cx="320040" cy="3474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79" y="4773168"/>
            <a:ext cx="1280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5/8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663440"/>
            <a:ext cx="6858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2A44"/>
                </a:solidFill>
                <a:latin typeface="Arial"/>
              </a:rPr>
              <a:t>62%</a:t>
            </a:r>
          </a:p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finished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0" y="4663440"/>
            <a:ext cx="13258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11827"/>
                </a:solidFill>
                <a:latin typeface="Arial"/>
              </a:rPr>
              <a:t>6 h/unit · 3 blocked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A/V sync; last-minute visual tweaks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440680"/>
            <a:ext cx="2176272" cy="960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5550408"/>
            <a:ext cx="54864" cy="740664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" y="5513832"/>
            <a:ext cx="1920239" cy="8503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Arial"/>
              </a:rPr>
              <a:t>WEEK 1 OUTPUT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2A44"/>
                </a:solidFill>
                <a:latin typeface="Arial"/>
              </a:rPr>
              <a:t>5 / 30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11827"/>
                </a:solidFill>
                <a:latin typeface="Arial"/>
              </a:rPr>
              <a:t>17% of weekly target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0" y="5440680"/>
            <a:ext cx="2176272" cy="960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0" y="5550408"/>
            <a:ext cx="54864" cy="740664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07792" y="5513832"/>
            <a:ext cx="1920239" cy="8503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Arial"/>
              </a:rPr>
              <a:t>NEEDED W2–W10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2A44"/>
                </a:solidFill>
                <a:latin typeface="Arial"/>
              </a:rPr>
              <a:t>32.8 / week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11827"/>
                </a:solidFill>
                <a:latin typeface="Arial"/>
              </a:rPr>
              <a:t>to still deliver 300 by Week 10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0" y="5440680"/>
            <a:ext cx="2176272" cy="960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5550408"/>
            <a:ext cx="54864" cy="740664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93792" y="5513832"/>
            <a:ext cx="1920239" cy="8503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Arial"/>
              </a:rPr>
              <a:t>STUCK IN PROGRESS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2A44"/>
                </a:solidFill>
                <a:latin typeface="Arial"/>
              </a:rPr>
              <a:t>30 units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11827"/>
                </a:solidFill>
                <a:latin typeface="Arial"/>
              </a:rPr>
              <a:t>19 touch-hours per finished video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06640" y="1444752"/>
            <a:ext cx="4343400" cy="2194560"/>
          </a:xfrm>
          <a:prstGeom prst="roundRect">
            <a:avLst>
              <a:gd name="adj" fmla="val 8000"/>
            </a:avLst>
          </a:prstGeom>
          <a:solidFill>
            <a:srgbClr val="F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43800" y="151790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E86A4A"/>
                </a:solidFill>
                <a:latin typeface="Arial"/>
              </a:rPr>
              <a:t>#1  Script creation &amp; review (Stage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43800" y="1856232"/>
            <a:ext cx="411480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111827"/>
                </a:solidFill>
                <a:latin typeface="Arial"/>
              </a:rPr>
              <a:t>•  </a:t>
            </a:r>
            <a:r>
              <a:rPr sz="960" b="1" i="0">
                <a:solidFill>
                  <a:srgbClr val="111827"/>
                </a:solidFill>
                <a:latin typeface="Arial"/>
              </a:rPr>
              <a:t>Evidence:</a:t>
            </a:r>
            <a:r>
              <a:rPr sz="960" b="0" i="0">
                <a:solidFill>
                  <a:srgbClr val="111827"/>
                </a:solidFill>
                <a:latin typeface="Arial"/>
              </a:rPr>
              <a:t> 15 of 35 units (43%) stuck, the largest loss in the line. It also starves Stage 3, where 5 units are waiting for a final script.</a:t>
            </a:r>
          </a:p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111827"/>
                </a:solidFill>
                <a:latin typeface="Arial"/>
              </a:rPr>
              <a:t>•  </a:t>
            </a:r>
            <a:r>
              <a:rPr sz="960" b="1" i="0">
                <a:solidFill>
                  <a:srgbClr val="111827"/>
                </a:solidFill>
                <a:latin typeface="Arial"/>
              </a:rPr>
              <a:t>Root cause:</a:t>
            </a:r>
            <a:r>
              <a:rPr sz="960" b="0" i="0">
                <a:solidFill>
                  <a:srgbClr val="111827"/>
                </a:solidFill>
                <a:latin typeface="Arial"/>
              </a:rPr>
              <a:t> no shared 'definition of ready' between Content Authors and Scriptwriters. Reviews happen one after another, so each misunderstanding means a full rewrite (4 h/unit).</a:t>
            </a:r>
          </a:p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111827"/>
                </a:solidFill>
                <a:latin typeface="Arial"/>
              </a:rPr>
              <a:t>•  </a:t>
            </a:r>
            <a:r>
              <a:rPr sz="960" b="1" i="0">
                <a:solidFill>
                  <a:srgbClr val="111827"/>
                </a:solidFill>
                <a:latin typeface="Arial"/>
              </a:rPr>
              <a:t>So what:</a:t>
            </a:r>
            <a:r>
              <a:rPr sz="960" b="0" i="0">
                <a:solidFill>
                  <a:srgbClr val="111827"/>
                </a:solidFill>
                <a:latin typeface="Arial"/>
              </a:rPr>
              <a:t> at most 20 scripts a week can enter production, so 30 a week is impossible upstream.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06640" y="3730752"/>
            <a:ext cx="4343400" cy="2194560"/>
          </a:xfrm>
          <a:prstGeom prst="roundRect">
            <a:avLst>
              <a:gd name="adj" fmla="val 8000"/>
            </a:avLst>
          </a:prstGeom>
          <a:solidFill>
            <a:srgbClr val="F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380390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E86A4A"/>
                </a:solidFill>
                <a:latin typeface="Arial"/>
              </a:rPr>
              <a:t>#2  Motion graphics &amp; animation (Stage 4)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43800" y="4142232"/>
            <a:ext cx="411480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111827"/>
                </a:solidFill>
                <a:latin typeface="Arial"/>
              </a:rPr>
              <a:t>•  </a:t>
            </a:r>
            <a:r>
              <a:rPr sz="960" b="1" i="0">
                <a:solidFill>
                  <a:srgbClr val="111827"/>
                </a:solidFill>
                <a:latin typeface="Arial"/>
              </a:rPr>
              <a:t>Evidence:</a:t>
            </a:r>
            <a:r>
              <a:rPr sz="960" b="0" i="0">
                <a:solidFill>
                  <a:srgbClr val="111827"/>
                </a:solidFill>
                <a:latin typeface="Arial"/>
              </a:rPr>
              <a:t> lowest completion rate (53%, 8 of 15) and the most effort of any creative stage (5 h/unit). 7 units are blocked by changes from earlier stages.</a:t>
            </a:r>
          </a:p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111827"/>
                </a:solidFill>
                <a:latin typeface="Arial"/>
              </a:rPr>
              <a:t>•  </a:t>
            </a:r>
            <a:r>
              <a:rPr sz="960" b="1" i="0">
                <a:solidFill>
                  <a:srgbClr val="111827"/>
                </a:solidFill>
                <a:latin typeface="Arial"/>
              </a:rPr>
              <a:t>Root cause:</a:t>
            </a:r>
            <a:r>
              <a:rPr sz="960" b="0" i="0">
                <a:solidFill>
                  <a:srgbClr val="111827"/>
                </a:solidFill>
                <a:latin typeface="Arial"/>
              </a:rPr>
              <a:t> no freeze point. Script and visual edits keep arriving after animation has started, and every video is animated from scratch.</a:t>
            </a:r>
          </a:p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111827"/>
                </a:solidFill>
                <a:latin typeface="Arial"/>
              </a:rPr>
              <a:t>•  </a:t>
            </a:r>
            <a:r>
              <a:rPr sz="960" b="1" i="0">
                <a:solidFill>
                  <a:srgbClr val="111827"/>
                </a:solidFill>
                <a:latin typeface="Arial"/>
              </a:rPr>
              <a:t>So what:</a:t>
            </a:r>
            <a:r>
              <a:rPr sz="960" b="0" i="0">
                <a:solidFill>
                  <a:srgbClr val="111827"/>
                </a:solidFill>
                <a:latin typeface="Arial"/>
              </a:rPr>
              <a:t> only 8 units reach final assembly. At target pace motion needs ~150 h/week; it lost a big part of Week 1 to redoing work.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6640" y="5989320"/>
            <a:ext cx="4343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1">
                <a:solidFill>
                  <a:srgbClr val="6B7280"/>
                </a:solidFill>
                <a:latin typeface="Arial"/>
              </a:rPr>
              <a:t>Common thread: changes flow downstream unchecked, and Stage 1 keeps starting work the line can't absorb.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F9D8A"/>
                </a:solidFill>
                <a:latin typeface="Arial"/>
              </a:rPr>
              <a:t>1 · 2-WEEK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F2A44"/>
                </a:solidFill>
                <a:latin typeface="Arial"/>
              </a:rPr>
              <a:t>Five rules for the next 2 weeks: align upstream, freeze changes, limit WIP, add motion capacity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Luca · Chief of Staff hiring case · all data fictional   |   Targets are commitments to review in the weekly pipeline meeting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786384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4434840"/>
                <a:gridCol w="1097280"/>
                <a:gridCol w="685800"/>
                <a:gridCol w="1325880"/>
              </a:tblGrid>
              <a:tr h="815340"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FFFFFF"/>
                          </a:solidFill>
                          <a:latin typeface="Arial"/>
                        </a:rPr>
                        <a:t>Action (decision / rule we put in place)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FFFFFF"/>
                          </a:solidFill>
                          <a:latin typeface="Arial"/>
                        </a:rPr>
                        <a:t>Success metric (end of Week 3)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</a:tr>
              <a:tr h="815340"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0F9D8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111827"/>
                          </a:solidFill>
                          <a:latin typeface="Arial"/>
                        </a:rPr>
                        <a:t>One brief, co-signed.</a:t>
                      </a:r>
                      <a:r>
                        <a:rPr sz="919" b="0" i="0">
                          <a:solidFill>
                            <a:srgbClr val="111827"/>
                          </a:solidFill>
                          <a:latin typeface="Arial"/>
                        </a:rPr>
                        <a:t> The Content Author and Scriptwriter fill in a 1-page 'script-ready brief' in a 20-min pairing before any script starts: learning objective, key concepts, scene outline, 600–850 words. Author reviews within 24 h, max 2 rounds; a 3rd round goes to the Curriculum Lead to decide.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11827"/>
                          </a:solidFill>
                          <a:latin typeface="Arial"/>
                        </a:rPr>
                        <a:t>Head of Content Ops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11827"/>
                          </a:solidFill>
                          <a:latin typeface="Arial"/>
                        </a:rPr>
                        <a:t>Day 1–2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11827"/>
                          </a:solidFill>
                          <a:latin typeface="Arial"/>
                        </a:rPr>
                        <a:t>≥80% scripts approved first pass; ≤1.2 rework loops / unit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0F9D8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111827"/>
                          </a:solidFill>
                          <a:latin typeface="Arial"/>
                        </a:rPr>
                        <a:t>Lock points + change control.</a:t>
                      </a:r>
                      <a:r>
                        <a:rPr sz="919" b="0" i="0">
                          <a:solidFill>
                            <a:srgbClr val="111827"/>
                          </a:solidFill>
                          <a:latin typeface="Arial"/>
                        </a:rPr>
                        <a:t> The script locks when it leaves Stage 2 and visuals lock when they leave Stage 4. After a lock, only factual or pedagogical errors may change (Content Lead approves within 24 h). Everything else goes to a v2 backlog.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11827"/>
                          </a:solidFill>
                          <a:latin typeface="Arial"/>
                        </a:rPr>
                        <a:t>Curriculum Lead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11827"/>
                          </a:solidFill>
                          <a:latin typeface="Arial"/>
                        </a:rPr>
                        <a:t>Day 1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11827"/>
                          </a:solidFill>
                          <a:latin typeface="Arial"/>
                        </a:rPr>
                        <a:t>0 change-driven blockers in Stages 4–5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</a:tr>
              <a:tr h="815340"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0F9D8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111827"/>
                          </a:solidFill>
                          <a:latin typeface="Arial"/>
                        </a:rPr>
                        <a:t>Stop starting, start finishing.</a:t>
                      </a:r>
                      <a:r>
                        <a:rPr sz="919" b="0" i="0">
                          <a:solidFill>
                            <a:srgbClr val="111827"/>
                          </a:solidFill>
                          <a:latin typeface="Arial"/>
                        </a:rPr>
                        <a:t> Cap the queue in front of each stage at 10 units. Stage 1 pauses new briefs while the script queue is over 10. Authors spend 50% of their time in pair-fix sessions to clear the 15 blocked scripts.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11827"/>
                          </a:solidFill>
                          <a:latin typeface="Arial"/>
                        </a:rPr>
                        <a:t>PMO / Chief of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11827"/>
                          </a:solidFill>
                          <a:latin typeface="Arial"/>
                        </a:rPr>
                        <a:t>Day 1–5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11827"/>
                          </a:solidFill>
                          <a:latin typeface="Arial"/>
                        </a:rPr>
                        <a:t>Script backlog 15 → &lt;5; WIP ≤ 40 units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0F9D8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111827"/>
                          </a:solidFill>
                          <a:latin typeface="Arial"/>
                        </a:rPr>
                        <a:t>Add capacity where it's scarce.</a:t>
                      </a:r>
                      <a:r>
                        <a:rPr sz="919" b="0" i="0">
                          <a:solidFill>
                            <a:srgbClr val="111827"/>
                          </a:solidFill>
                          <a:latin typeface="Arial"/>
                        </a:rPr>
                        <a:t> 3 complexity tiers (A bespoke 20% · B template 50% · C avatar + static 30%). A library of 15–20 reusable motion templates. 2–3 freelance motion designers for W2–W6. Designers start from the approved scene outline, in parallel with the script.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11827"/>
                          </a:solidFill>
                          <a:latin typeface="Arial"/>
                        </a:rPr>
                        <a:t>Motion Lead + Head of Content Ops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11827"/>
                          </a:solidFill>
                          <a:latin typeface="Arial"/>
                        </a:rPr>
                        <a:t>Week 1–2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11827"/>
                          </a:solidFill>
                          <a:latin typeface="Arial"/>
                        </a:rPr>
                        <a:t>Motion 5.0 → ≤3.0 h/unit; ≥36 units/week out of Stage 4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</a:tr>
              <a:tr h="815340"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0F9D8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111827"/>
                          </a:solidFill>
                          <a:latin typeface="Arial"/>
                        </a:rPr>
                        <a:t>Right-first-time final assembly.</a:t>
                      </a:r>
                      <a:r>
                        <a:rPr sz="919" b="0" i="0">
                          <a:solidFill>
                            <a:srgbClr val="111827"/>
                          </a:solidFill>
                          <a:latin typeface="Arial"/>
                        </a:rPr>
                        <a:t> One technical spec (audio −16 LUFS, 48 kHz, timings from the locked script), a Synthesia template per subject, sound + Synthesia working as one cell on the same batch, and a 10-point QC checklist before export.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11827"/>
                          </a:solidFill>
                          <a:latin typeface="Arial"/>
                        </a:rPr>
                        <a:t>Synthesia Lead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11827"/>
                          </a:solidFill>
                          <a:latin typeface="Arial"/>
                        </a:rPr>
                        <a:t>Week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11827"/>
                          </a:solidFill>
                          <a:latin typeface="Arial"/>
                        </a:rPr>
                        <a:t>0 A/V sync rejects; Stage 5 6 → 4 h/unit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458200" y="1417320"/>
          <a:ext cx="333756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458200" y="425196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E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434340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9D8A"/>
                </a:solidFill>
                <a:latin typeface="Arial"/>
              </a:rPr>
              <a:t>Weekly finish 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4709160"/>
            <a:ext cx="3017520" cy="16001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80" b="1" i="0">
                <a:solidFill>
                  <a:srgbClr val="111827"/>
                </a:solidFill>
                <a:latin typeface="Arial"/>
              </a:rPr>
              <a:t>W2: 15 · W3: 25 · W4–W10: ≥36/week</a:t>
            </a:r>
            <a:r>
              <a:rPr sz="980" b="0" i="0">
                <a:solidFill>
                  <a:srgbClr val="111827"/>
                </a:solidFill>
                <a:latin typeface="Arial"/>
              </a:rPr>
              <a:t> → 300 by Week 10.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11827"/>
                </a:solidFill>
                <a:latin typeface="Arial"/>
              </a:rPr>
              <a:t>W2 mostly clears the 30 units already in progress; from W4 the tiers and templates carry the higher pace.</a:t>
            </a:r>
          </a:p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11827"/>
                </a:solidFill>
                <a:latin typeface="Arial"/>
              </a:rPr>
              <a:t>Escalation rule:</a:t>
            </a:r>
            <a:r>
              <a:rPr sz="950" b="0" i="0">
                <a:solidFill>
                  <a:srgbClr val="111827"/>
                </a:solidFill>
                <a:latin typeface="Arial"/>
              </a:rPr>
              <a:t> if W3 is under 20, the steering group moves more videos to Tier C and orders subjects by the school-term calendar.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F9D8A"/>
                </a:solidFill>
                <a:latin typeface="Arial"/>
              </a:rPr>
              <a:t>1 · AI VIDEO PRODUCTION TOOL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F2A44"/>
                </a:solidFill>
                <a:latin typeface="Arial"/>
              </a:rPr>
              <a:t>One AI-orchestrated pipeline from curriculum to finished video, with humans approving at key gates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Luca · Chief of Staff hiring case · all data fictional   |   Hour savings are planning estimates to validate in the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44752"/>
            <a:ext cx="11292840" cy="566928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44752"/>
            <a:ext cx="110642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KNOWLEDGE LAYER (RAG)</a:t>
            </a:r>
            <a:r>
              <a:rPr sz="1000" b="0" i="0">
                <a:solidFill>
                  <a:srgbClr val="FFFFFF"/>
                </a:solidFill>
                <a:latin typeface="Arial"/>
              </a:rPr>
              <a:t>   SEP curriculum &amp; learning objectives · Luca lesson library &amp; pedagogy style guide · brand/asset &amp; motion-template library · performance data (watch time, quiz results)</a:t>
            </a:r>
          </a:p>
        </p:txBody>
      </p:sp>
      <p:sp>
        <p:nvSpPr>
          <p:cNvPr id="10" name="Pentagon 9"/>
          <p:cNvSpPr/>
          <p:nvPr/>
        </p:nvSpPr>
        <p:spPr>
          <a:xfrm>
            <a:off x="457200" y="2121408"/>
            <a:ext cx="1938528" cy="502920"/>
          </a:xfrm>
          <a:prstGeom prst="homePlat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121408"/>
            <a:ext cx="164592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80" b="1" i="0">
                <a:solidFill>
                  <a:srgbClr val="FFFFFF"/>
                </a:solidFill>
                <a:latin typeface="Arial"/>
              </a:rPr>
              <a:t>1. Brief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" y="2697480"/>
            <a:ext cx="1792224" cy="1234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24912"/>
            <a:ext cx="1682496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80" b="0" i="0">
                <a:solidFill>
                  <a:srgbClr val="111827"/>
                </a:solidFill>
                <a:latin typeface="Arial"/>
              </a:rPr>
              <a:t>LLM + RAG drafts objective, concepts, misconceptions, scene outline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584448"/>
            <a:ext cx="1645920" cy="256032"/>
          </a:xfrm>
          <a:prstGeom prst="roundRect">
            <a:avLst>
              <a:gd name="adj" fmla="val 8000"/>
            </a:avLst>
          </a:prstGeom>
          <a:solidFill>
            <a:srgbClr val="FE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584448"/>
            <a:ext cx="16459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111827"/>
                </a:solidFill>
                <a:latin typeface="Arial"/>
              </a:rPr>
              <a:t>Author approves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3959352"/>
            <a:ext cx="179222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0F9D8A"/>
                </a:solidFill>
                <a:latin typeface="Arial"/>
              </a:rPr>
              <a:t>Effort/unit: 1.0 → 0.3 h</a:t>
            </a:r>
          </a:p>
        </p:txBody>
      </p:sp>
      <p:sp>
        <p:nvSpPr>
          <p:cNvPr id="17" name="Chevron 16"/>
          <p:cNvSpPr/>
          <p:nvPr/>
        </p:nvSpPr>
        <p:spPr>
          <a:xfrm>
            <a:off x="2350008" y="2121408"/>
            <a:ext cx="1938528" cy="502920"/>
          </a:xfrm>
          <a:prstGeom prst="chevron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2121408"/>
            <a:ext cx="164592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80" b="1" i="0">
                <a:solidFill>
                  <a:srgbClr val="FFFFFF"/>
                </a:solidFill>
                <a:latin typeface="Arial"/>
              </a:rPr>
              <a:t>2. Script agent + QA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86584" y="2697480"/>
            <a:ext cx="1792224" cy="1234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41448" y="2724912"/>
            <a:ext cx="1682496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80" b="0" i="0">
                <a:solidFill>
                  <a:srgbClr val="111827"/>
                </a:solidFill>
                <a:latin typeface="Arial"/>
              </a:rPr>
              <a:t>Writes in Luca template; auto-checks length, reading level, accuracy, safety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59736" y="3584448"/>
            <a:ext cx="1645920" cy="256032"/>
          </a:xfrm>
          <a:prstGeom prst="roundRect">
            <a:avLst>
              <a:gd name="adj" fmla="val 8000"/>
            </a:avLst>
          </a:prstGeom>
          <a:solidFill>
            <a:srgbClr val="FE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59736" y="3584448"/>
            <a:ext cx="16459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111827"/>
                </a:solidFill>
                <a:latin typeface="Arial"/>
              </a:rPr>
              <a:t>Scriptwriter edits &amp; locks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86584" y="3959352"/>
            <a:ext cx="179222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0F9D8A"/>
                </a:solidFill>
                <a:latin typeface="Arial"/>
              </a:rPr>
              <a:t>Effort/unit: 4.0 → 1.5 h</a:t>
            </a:r>
          </a:p>
        </p:txBody>
      </p:sp>
      <p:sp>
        <p:nvSpPr>
          <p:cNvPr id="24" name="Chevron 23"/>
          <p:cNvSpPr/>
          <p:nvPr/>
        </p:nvSpPr>
        <p:spPr>
          <a:xfrm>
            <a:off x="4242816" y="2121408"/>
            <a:ext cx="1938528" cy="502920"/>
          </a:xfrm>
          <a:prstGeom prst="chevron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7407" y="2121408"/>
            <a:ext cx="164592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80" b="1" i="0">
                <a:solidFill>
                  <a:srgbClr val="FFFFFF"/>
                </a:solidFill>
                <a:latin typeface="Arial"/>
              </a:rPr>
              <a:t>3. Scene spec (JSON)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9392" y="2697480"/>
            <a:ext cx="1792224" cy="1234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34255" y="2724912"/>
            <a:ext cx="1682496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80" b="0" i="0">
                <a:solidFill>
                  <a:srgbClr val="111827"/>
                </a:solidFill>
                <a:latin typeface="Arial"/>
              </a:rPr>
              <a:t>Per scene: narration, on-screen text, visual prompt, template ID, duration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52544" y="3584448"/>
            <a:ext cx="1645920" cy="256032"/>
          </a:xfrm>
          <a:prstGeom prst="roundRect">
            <a:avLst>
              <a:gd name="adj" fmla="val 8000"/>
            </a:avLst>
          </a:prstGeom>
          <a:solidFill>
            <a:srgbClr val="FE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2544" y="3584448"/>
            <a:ext cx="16459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111827"/>
                </a:solidFill>
                <a:latin typeface="Arial"/>
              </a:rPr>
              <a:t>Single source of truth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3959352"/>
            <a:ext cx="179222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0F9D8A"/>
                </a:solidFill>
                <a:latin typeface="Arial"/>
              </a:rPr>
              <a:t>Effort/unit: auto</a:t>
            </a:r>
          </a:p>
        </p:txBody>
      </p:sp>
      <p:sp>
        <p:nvSpPr>
          <p:cNvPr id="31" name="Chevron 30"/>
          <p:cNvSpPr/>
          <p:nvPr/>
        </p:nvSpPr>
        <p:spPr>
          <a:xfrm>
            <a:off x="6135623" y="2121408"/>
            <a:ext cx="1938528" cy="502920"/>
          </a:xfrm>
          <a:prstGeom prst="chevron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0215" y="2121408"/>
            <a:ext cx="164592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80" b="1" i="0">
                <a:solidFill>
                  <a:srgbClr val="FFFFFF"/>
                </a:solidFill>
                <a:latin typeface="Arial"/>
              </a:rPr>
              <a:t>4. Visual assets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199" y="2697480"/>
            <a:ext cx="1792224" cy="1234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7063" y="2724912"/>
            <a:ext cx="1682496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80" b="0" i="0">
                <a:solidFill>
                  <a:srgbClr val="111827"/>
                </a:solidFill>
                <a:latin typeface="Arial"/>
              </a:rPr>
              <a:t>Reuse library first; generate brand-styled images; diagrams &amp; math as code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45351" y="3584448"/>
            <a:ext cx="1645920" cy="256032"/>
          </a:xfrm>
          <a:prstGeom prst="roundRect">
            <a:avLst>
              <a:gd name="adj" fmla="val 8000"/>
            </a:avLst>
          </a:prstGeom>
          <a:solidFill>
            <a:srgbClr val="FE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45351" y="3584448"/>
            <a:ext cx="16459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111827"/>
                </a:solidFill>
                <a:latin typeface="Arial"/>
              </a:rPr>
              <a:t>Designer curates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199" y="3959352"/>
            <a:ext cx="179222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0F9D8A"/>
                </a:solidFill>
                <a:latin typeface="Arial"/>
              </a:rPr>
              <a:t>Effort/unit: 3.0 → 1.5 h</a:t>
            </a:r>
          </a:p>
        </p:txBody>
      </p:sp>
      <p:sp>
        <p:nvSpPr>
          <p:cNvPr id="38" name="Chevron 37"/>
          <p:cNvSpPr/>
          <p:nvPr/>
        </p:nvSpPr>
        <p:spPr>
          <a:xfrm>
            <a:off x="8028431" y="2121408"/>
            <a:ext cx="1938528" cy="502920"/>
          </a:xfrm>
          <a:prstGeom prst="chevron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93023" y="2121408"/>
            <a:ext cx="164592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80" b="1" i="0">
                <a:solidFill>
                  <a:srgbClr val="FFFFFF"/>
                </a:solidFill>
                <a:latin typeface="Arial"/>
              </a:rPr>
              <a:t>5. Motion renderer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65007" y="2697480"/>
            <a:ext cx="1792224" cy="1234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19871" y="2724912"/>
            <a:ext cx="1682496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80" b="0" i="0">
                <a:solidFill>
                  <a:srgbClr val="111827"/>
                </a:solidFill>
                <a:latin typeface="Arial"/>
              </a:rPr>
              <a:t>Fills motion templates from scene JSON; bespoke only for Tier 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59" y="3584448"/>
            <a:ext cx="1645920" cy="256032"/>
          </a:xfrm>
          <a:prstGeom prst="roundRect">
            <a:avLst>
              <a:gd name="adj" fmla="val 8000"/>
            </a:avLst>
          </a:prstGeom>
          <a:solidFill>
            <a:srgbClr val="FE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59" y="3584448"/>
            <a:ext cx="16459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111827"/>
                </a:solidFill>
                <a:latin typeface="Arial"/>
              </a:rPr>
              <a:t>Motion designer polishes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65007" y="3959352"/>
            <a:ext cx="179222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0F9D8A"/>
                </a:solidFill>
                <a:latin typeface="Arial"/>
              </a:rPr>
              <a:t>Effort/unit: 5.0 → 2.0 h</a:t>
            </a:r>
          </a:p>
        </p:txBody>
      </p:sp>
      <p:sp>
        <p:nvSpPr>
          <p:cNvPr id="45" name="Chevron 44"/>
          <p:cNvSpPr/>
          <p:nvPr/>
        </p:nvSpPr>
        <p:spPr>
          <a:xfrm>
            <a:off x="9921240" y="2121408"/>
            <a:ext cx="1938528" cy="502920"/>
          </a:xfrm>
          <a:prstGeom prst="chevron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85832" y="2121408"/>
            <a:ext cx="164592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80" b="1" i="0">
                <a:solidFill>
                  <a:srgbClr val="FFFFFF"/>
                </a:solidFill>
                <a:latin typeface="Arial"/>
              </a:rPr>
              <a:t>6. Avatar, voice &amp; finish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57815" y="2697480"/>
            <a:ext cx="1792224" cy="1234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12680" y="2724912"/>
            <a:ext cx="1682496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80" b="0" i="0">
                <a:solidFill>
                  <a:srgbClr val="111827"/>
                </a:solidFill>
                <a:latin typeface="Arial"/>
              </a:rPr>
              <a:t>Synthesia API render, voice-over, music, loudness, captions, sync check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30967" y="3584448"/>
            <a:ext cx="1645920" cy="256032"/>
          </a:xfrm>
          <a:prstGeom prst="roundRect">
            <a:avLst>
              <a:gd name="adj" fmla="val 8000"/>
            </a:avLst>
          </a:prstGeom>
          <a:solidFill>
            <a:srgbClr val="FE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30967" y="3584448"/>
            <a:ext cx="16459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111827"/>
                </a:solidFill>
                <a:latin typeface="Arial"/>
              </a:rPr>
              <a:t>Final QA sign-off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7815" y="3959352"/>
            <a:ext cx="179222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0F9D8A"/>
                </a:solidFill>
                <a:latin typeface="Arial"/>
              </a:rPr>
              <a:t>Effort/unit: 6.0 → 2.0 h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457200" y="4279392"/>
          <a:ext cx="7726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6126480"/>
              </a:tblGrid>
              <a:tr h="350520">
                <a:tc>
                  <a:txBody>
                    <a:bodyPr wrap="square"/>
                    <a:lstStyle/>
                    <a:p>
                      <a:r>
                        <a:rPr sz="860" b="1" i="0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1" i="0">
                          <a:solidFill>
                            <a:srgbClr val="FFFFFF"/>
                          </a:solidFill>
                          <a:latin typeface="Arial"/>
                        </a:rPr>
                        <a:t>Engine &amp; sourcing (buy best-of-breed APIs, build only the thin orchestration layer)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860" b="1" i="0">
                          <a:solidFill>
                            <a:srgbClr val="111827"/>
                          </a:solidFill>
                          <a:latin typeface="Arial"/>
                        </a:rPr>
                        <a:t>LLMs: brief, script, QA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 i="0">
                          <a:solidFill>
                            <a:srgbClr val="111827"/>
                          </a:solidFill>
                          <a:latin typeface="Arial"/>
                        </a:rPr>
                        <a:t>Claude for long-form pedagogy in Spanish &amp; Portuguese; GPT / Gemini through a model router for structured JSON and second-opinion QA. pgvector RAG over the curriculum; 50 gold scripts as eval set.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860" b="1" i="0">
                          <a:solidFill>
                            <a:srgbClr val="111827"/>
                          </a:solidFill>
                          <a:latin typeface="Arial"/>
                        </a:rPr>
                        <a:t>Visual assets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 i="0">
                          <a:solidFill>
                            <a:srgbClr val="111827"/>
                          </a:solidFill>
                          <a:latin typeface="Arial"/>
                        </a:rPr>
                        <a:t>Adobe Firefly / Ideogram / Flux (commercially safe image generation) with brand style presets; SVG + Manim for diagrams and math; Figma asset library.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860" b="1" i="0">
                          <a:solidFill>
                            <a:srgbClr val="111827"/>
                          </a:solidFill>
                          <a:latin typeface="Arial"/>
                        </a:rPr>
                        <a:t>Motion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 i="0">
                          <a:solidFill>
                            <a:srgbClr val="111827"/>
                          </a:solidFill>
                          <a:latin typeface="Arial"/>
                        </a:rPr>
                        <a:t>Remotion (programmatic React video) or After Effects templates rendered via Nexrender / Plainly from the scene JSON; Runway / Veo for short B-roll clips.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860" b="1" i="0">
                          <a:solidFill>
                            <a:srgbClr val="111827"/>
                          </a:solidFill>
                          <a:latin typeface="Arial"/>
                        </a:rPr>
                        <a:t>Avatar, voice, sound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 i="0">
                          <a:solidFill>
                            <a:srgbClr val="111827"/>
                          </a:solidFill>
                          <a:latin typeface="Arial"/>
                        </a:rPr>
                        <a:t>Synthesia API (current tool, Luca avatars); ElevenLabs for voice-over and LatAm dubbing; licensed music API; ffmpeg loudness (EBU R128); Whisper captions + script-vs-audio sync check.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860" b="1" i="0">
                          <a:solidFill>
                            <a:srgbClr val="111827"/>
                          </a:solidFill>
                          <a:latin typeface="Arial"/>
                        </a:rPr>
                        <a:t>Orchestration &amp; tracking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 i="0">
                          <a:solidFill>
                            <a:srgbClr val="111827"/>
                          </a:solidFill>
                          <a:latin typeface="Arial"/>
                        </a:rPr>
                        <a:t>n8n for the MVP → Temporal at scale; status written to the master tracker via API; review UI in Lovable / Retool with comments per scene; S3 storage with versioning.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Rounded Rectangle 52"/>
          <p:cNvSpPr/>
          <p:nvPr/>
        </p:nvSpPr>
        <p:spPr>
          <a:xfrm>
            <a:off x="8321040" y="4279392"/>
            <a:ext cx="3429000" cy="2103120"/>
          </a:xfrm>
          <a:prstGeom prst="roundRect">
            <a:avLst>
              <a:gd name="adj" fmla="val 8000"/>
            </a:avLst>
          </a:prstGeom>
          <a:solidFill>
            <a:srgbClr val="E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58200" y="4370831"/>
            <a:ext cx="3154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9D8A"/>
                </a:solidFill>
                <a:latin typeface="Arial"/>
              </a:rPr>
              <a:t>Impact, guardrails &amp; prototype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58200" y="4736592"/>
            <a:ext cx="3154680" cy="16001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11827"/>
                </a:solidFill>
                <a:latin typeface="Arial"/>
              </a:rPr>
              <a:t>•  </a:t>
            </a:r>
            <a:r>
              <a:rPr sz="900" b="1" i="0">
                <a:solidFill>
                  <a:srgbClr val="111827"/>
                </a:solidFill>
                <a:latin typeface="Arial"/>
              </a:rPr>
              <a:t>≈19 h → ~7 h of human effort per video</a:t>
            </a:r>
            <a:r>
              <a:rPr sz="900" b="0" i="0">
                <a:solidFill>
                  <a:srgbClr val="111827"/>
                </a:solidFill>
                <a:latin typeface="Arial"/>
              </a:rPr>
              <a:t> (−60%), so the same team can deliver 2–3× the output.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11827"/>
                </a:solidFill>
                <a:latin typeface="Arial"/>
              </a:rPr>
              <a:t>•  </a:t>
            </a:r>
            <a:r>
              <a:rPr sz="900" b="1" i="0">
                <a:solidFill>
                  <a:srgbClr val="111827"/>
                </a:solidFill>
                <a:latin typeface="Arial"/>
              </a:rPr>
              <a:t>Guardrails:</a:t>
            </a:r>
            <a:r>
              <a:rPr sz="900" b="0" i="0">
                <a:solidFill>
                  <a:srgbClr val="111827"/>
                </a:solidFill>
                <a:latin typeface="Arial"/>
              </a:rPr>
              <a:t> human sign-off on brief and final; child-safety, bias and accuracy checks; an IP/licence log per asset; cost per video tracked.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11827"/>
                </a:solidFill>
                <a:latin typeface="Arial"/>
              </a:rPr>
              <a:t>•  </a:t>
            </a:r>
            <a:r>
              <a:rPr sz="900" b="1" i="0">
                <a:solidFill>
                  <a:srgbClr val="111827"/>
                </a:solidFill>
                <a:latin typeface="Arial"/>
              </a:rPr>
              <a:t>Prototype:</a:t>
            </a:r>
            <a:r>
              <a:rPr sz="900" b="0" i="0">
                <a:solidFill>
                  <a:srgbClr val="111827"/>
                </a:solidFill>
                <a:latin typeface="Arial"/>
              </a:rPr>
              <a:t> no link in this version. I propose a 2-week MVP (Lovable front end + Claude API): topic → brief → script → scene JSON → Synthesia draft, piloted on Primaria Math.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F9D8A"/>
                </a:solidFill>
                <a:latin typeface="Arial"/>
              </a:rPr>
              <a:t>2 · TRACKING &amp; OPERATING RHYTHM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F2A44"/>
                </a:solidFill>
                <a:latin typeface="Arial"/>
              </a:rPr>
              <a:t>Every Friday we know whether we're on track: one tracker, five fields, three meetings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Luca · Chief of Staff hiring case · all data fictional   |   Template: Luca_Content_Pipeline_Master_Tracker.xlsx (pre-loaded with the Week 1 snapshot)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Master tracker: 5 key fields beyond Unit ID &amp; Stage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557784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828800"/>
                <a:gridCol w="2423160"/>
              </a:tblGrid>
              <a:tr h="647700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FFFFFF"/>
                          </a:solidFill>
                          <a:latin typeface="Arial"/>
                        </a:rPr>
                        <a:t>What it captures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FFFFFF"/>
                          </a:solidFill>
                          <a:latin typeface="Arial"/>
                        </a:rPr>
                        <a:t>How it spots delays / drives accountability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111827"/>
                          </a:solidFill>
                          <a:latin typeface="Arial"/>
                        </a:rPr>
                        <a:t>1. Accountable owner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111827"/>
                          </a:solidFill>
                          <a:latin typeface="Arial"/>
                        </a:rPr>
                        <a:t>One named person for the unit's current stage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111827"/>
                          </a:solidFill>
                          <a:latin typeface="Arial"/>
                        </a:rPr>
                        <a:t>No shared ownership: every late unit has a name attached, and the stand-up goes owner by owner.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111827"/>
                          </a:solidFill>
                          <a:latin typeface="Arial"/>
                        </a:rPr>
                        <a:t>2. Stage due date (SLA)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111827"/>
                          </a:solidFill>
                          <a:latin typeface="Arial"/>
                        </a:rPr>
                        <a:t>Stage start + SLA (e.g. Script 2 days, Motion 2 days)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111827"/>
                          </a:solidFill>
                          <a:latin typeface="Arial"/>
                        </a:rPr>
                        <a:t>Auto-calculates 'days late'; red the moment a unit misses its SLA, not at week end.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111827"/>
                          </a:solidFill>
                          <a:latin typeface="Arial"/>
                        </a:rPr>
                        <a:t>3. Days in stage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111827"/>
                          </a:solidFill>
                          <a:latin typeface="Arial"/>
                        </a:rPr>
                        <a:t>Today − stage start date (aging)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111827"/>
                          </a:solidFill>
                          <a:latin typeface="Arial"/>
                        </a:rPr>
                        <a:t>Shows silent stalls before anyone flags a blocker; &gt;2 days turns amber.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111827"/>
                          </a:solidFill>
                          <a:latin typeface="Arial"/>
                        </a:rPr>
                        <a:t>4. Status + blocker reason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111827"/>
                          </a:solidFill>
                          <a:latin typeface="Arial"/>
                        </a:rPr>
                        <a:t>On track / At risk / Blocked + a standard reason list (e.g. content misalignment, change after lock, A/V sync)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111827"/>
                          </a:solidFill>
                          <a:latin typeface="Arial"/>
                        </a:rPr>
                        <a:t>Blockers by reason × stage show the system's failure modes; blocked &gt;24 h is escalated.</a:t>
                      </a:r>
                    </a:p>
                  </a:txBody>
                  <a:tcPr marL="54864" marR="54864" marT="27432" marB="27432" anchor="ctr">
                    <a:solidFill>
                      <a:srgbClr val="F3F4F6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111827"/>
                          </a:solidFill>
                          <a:latin typeface="Arial"/>
                        </a:rPr>
                        <a:t>5. Rework loops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111827"/>
                          </a:solidFill>
                          <a:latin typeface="Arial"/>
                        </a:rPr>
                        <a:t>Number of times the unit was sent back to an earlier stage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111827"/>
                          </a:solidFill>
                          <a:latin typeface="Arial"/>
                        </a:rPr>
                        <a:t>Measures quality at hand-offs; ≥2 loops triggers a root-cause look in the weekly review.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5760720"/>
            <a:ext cx="5577840" cy="62179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760720"/>
            <a:ext cx="53949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19" b="1" i="0">
                <a:solidFill>
                  <a:srgbClr val="111827"/>
                </a:solidFill>
                <a:latin typeface="Arial"/>
              </a:rPr>
              <a:t>Weekly scoreboard (auto, in the tracker):</a:t>
            </a:r>
            <a:r>
              <a:rPr sz="919" b="0" i="0">
                <a:solidFill>
                  <a:srgbClr val="111827"/>
                </a:solidFill>
                <a:latin typeface="Arial"/>
              </a:rPr>
              <a:t> finished vs. 30 target, cumulative vs. plan, run-rate needed to hit 300, WIP and blockers per stage, average days in stage.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44475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Weekly operating rhythm (3 recurring meetings)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486400" cy="1389888"/>
          </a:xfrm>
          <a:prstGeom prst="roundRect">
            <a:avLst>
              <a:gd name="adj" fmla="val 8000"/>
            </a:avLst>
          </a:prstGeom>
          <a:solidFill>
            <a:srgbClr val="E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92807"/>
            <a:ext cx="64008" cy="117043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837943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A44"/>
                </a:solidFill>
                <a:latin typeface="Arial"/>
              </a:rPr>
              <a:t>Daily production stand-up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1874519"/>
            <a:ext cx="2011680" cy="246888"/>
          </a:xfrm>
          <a:prstGeom prst="roundRect">
            <a:avLst>
              <a:gd name="adj" fmla="val 8000"/>
            </a:avLst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1874519"/>
            <a:ext cx="2011680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Mon–Fri · 15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148840"/>
            <a:ext cx="52578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 i="0">
                <a:solidFill>
                  <a:srgbClr val="111827"/>
                </a:solidFill>
                <a:latin typeface="Arial"/>
              </a:rPr>
              <a:t>Who:</a:t>
            </a:r>
            <a:r>
              <a:rPr sz="919" b="0" i="0">
                <a:solidFill>
                  <a:srgbClr val="111827"/>
                </a:solidFill>
                <a:latin typeface="Arial"/>
              </a:rPr>
              <a:t> Stage leads (content, script, design, motion, Synthesia/sound) + PMO</a:t>
            </a:r>
          </a:p>
          <a:p>
            <a:pPr algn="l">
              <a:spcAft>
                <a:spcPts val="200"/>
              </a:spcAft>
            </a:pPr>
            <a:r>
              <a:rPr sz="919" b="1" i="0">
                <a:solidFill>
                  <a:srgbClr val="111827"/>
                </a:solidFill>
                <a:latin typeface="Arial"/>
              </a:rPr>
              <a:t>Reviews:</a:t>
            </a:r>
            <a:r>
              <a:rPr sz="919" b="0" i="0">
                <a:solidFill>
                  <a:srgbClr val="111827"/>
                </a:solidFill>
                <a:latin typeface="Arial"/>
              </a:rPr>
              <a:t> Walk the board right-to-left (closest to done first): units blocked &gt;24 h, queues over the WIP limit, late units.</a:t>
            </a:r>
          </a:p>
          <a:p>
            <a:pPr algn="l">
              <a:spcAft>
                <a:spcPts val="0"/>
              </a:spcAft>
            </a:pPr>
            <a:r>
              <a:rPr sz="919" b="1" i="0">
                <a:solidFill>
                  <a:srgbClr val="111827"/>
                </a:solidFill>
                <a:latin typeface="Arial"/>
              </a:rPr>
              <a:t>Decides:</a:t>
            </a:r>
            <a:r>
              <a:rPr sz="919" b="0" i="0">
                <a:solidFill>
                  <a:srgbClr val="111827"/>
                </a:solidFill>
                <a:latin typeface="Arial"/>
              </a:rPr>
              <a:t> Who unblocks what today; capacity swaps between stages; escalations to the Curriculum Lead.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486400" cy="138988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355848"/>
            <a:ext cx="64008" cy="117043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300984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A44"/>
                </a:solidFill>
                <a:latin typeface="Arial"/>
              </a:rPr>
              <a:t>Weekly pipeline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920" y="3337560"/>
            <a:ext cx="2011680" cy="246888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6920" y="3337560"/>
            <a:ext cx="2011680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Monday · 45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611879"/>
            <a:ext cx="52578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 i="0">
                <a:solidFill>
                  <a:srgbClr val="111827"/>
                </a:solidFill>
                <a:latin typeface="Arial"/>
              </a:rPr>
              <a:t>Who:</a:t>
            </a:r>
            <a:r>
              <a:rPr sz="919" b="0" i="0">
                <a:solidFill>
                  <a:srgbClr val="111827"/>
                </a:solidFill>
                <a:latin typeface="Arial"/>
              </a:rPr>
              <a:t> Chief of Staff (chair), Head of Content Ops, Curriculum Lead, all stage leads</a:t>
            </a:r>
          </a:p>
          <a:p>
            <a:pPr algn="l">
              <a:spcAft>
                <a:spcPts val="200"/>
              </a:spcAft>
            </a:pPr>
            <a:r>
              <a:rPr sz="919" b="1" i="0">
                <a:solidFill>
                  <a:srgbClr val="111827"/>
                </a:solidFill>
                <a:latin typeface="Arial"/>
              </a:rPr>
              <a:t>Reviews:</a:t>
            </a:r>
            <a:r>
              <a:rPr sz="919" b="0" i="0">
                <a:solidFill>
                  <a:srgbClr val="111827"/>
                </a:solidFill>
                <a:latin typeface="Arial"/>
              </a:rPr>
              <a:t> Throughput vs. plan, cycle time per stage, rework rate, top blocker reasons, change requests, next week's capacity.</a:t>
            </a:r>
          </a:p>
          <a:p>
            <a:pPr algn="l">
              <a:spcAft>
                <a:spcPts val="0"/>
              </a:spcAft>
            </a:pPr>
            <a:r>
              <a:rPr sz="919" b="1" i="0">
                <a:solidFill>
                  <a:srgbClr val="111827"/>
                </a:solidFill>
                <a:latin typeface="Arial"/>
              </a:rPr>
              <a:t>Decides:</a:t>
            </a:r>
            <a:r>
              <a:rPr sz="919" b="0" i="0">
                <a:solidFill>
                  <a:srgbClr val="111827"/>
                </a:solidFill>
                <a:latin typeface="Arial"/>
              </a:rPr>
              <a:t> Weekly finish commitment per stage; WIP limits; tier mix; approve/deny post-lock changes; freelance hours.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709160"/>
            <a:ext cx="5486400" cy="1389888"/>
          </a:xfrm>
          <a:prstGeom prst="roundRect">
            <a:avLst>
              <a:gd name="adj" fmla="val 8000"/>
            </a:avLst>
          </a:prstGeom>
          <a:solidFill>
            <a:srgbClr val="F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818888"/>
            <a:ext cx="64008" cy="1170432"/>
          </a:xfrm>
          <a:prstGeom prst="rect">
            <a:avLst/>
          </a:prstGeom>
          <a:solidFill>
            <a:srgbClr val="E8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4764024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A44"/>
                </a:solidFill>
                <a:latin typeface="Arial"/>
              </a:rPr>
              <a:t>Bi-weekly steering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46920" y="4800600"/>
            <a:ext cx="2011680" cy="246888"/>
          </a:xfrm>
          <a:prstGeom prst="roundRect">
            <a:avLst>
              <a:gd name="adj" fmla="val 8000"/>
            </a:avLst>
          </a:prstGeom>
          <a:solidFill>
            <a:srgbClr val="E8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6920" y="4800600"/>
            <a:ext cx="2011680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Every other Thursday · 30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5074920"/>
            <a:ext cx="52578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 i="0">
                <a:solidFill>
                  <a:srgbClr val="111827"/>
                </a:solidFill>
                <a:latin typeface="Arial"/>
              </a:rPr>
              <a:t>Who:</a:t>
            </a:r>
            <a:r>
              <a:rPr sz="919" b="0" i="0">
                <a:solidFill>
                  <a:srgbClr val="111827"/>
                </a:solidFill>
                <a:latin typeface="Arial"/>
              </a:rPr>
              <a:t> CEO / COO, Head of Product / Content, Chief of Staff</a:t>
            </a:r>
          </a:p>
          <a:p>
            <a:pPr algn="l">
              <a:spcAft>
                <a:spcPts val="200"/>
              </a:spcAft>
            </a:pPr>
            <a:r>
              <a:rPr sz="919" b="1" i="0">
                <a:solidFill>
                  <a:srgbClr val="111827"/>
                </a:solidFill>
                <a:latin typeface="Arial"/>
              </a:rPr>
              <a:t>Reviews:</a:t>
            </a:r>
            <a:r>
              <a:rPr sz="919" b="0" i="0">
                <a:solidFill>
                  <a:srgbClr val="111827"/>
                </a:solidFill>
                <a:latin typeface="Arial"/>
              </a:rPr>
              <a:t> Forecast to 300 vs. term start, budget vs. actual, AI tool MVP progress, risks.</a:t>
            </a:r>
          </a:p>
          <a:p>
            <a:pPr algn="l">
              <a:spcAft>
                <a:spcPts val="0"/>
              </a:spcAft>
            </a:pPr>
            <a:r>
              <a:rPr sz="919" b="1" i="0">
                <a:solidFill>
                  <a:srgbClr val="111827"/>
                </a:solidFill>
                <a:latin typeface="Arial"/>
              </a:rPr>
              <a:t>Decides:</a:t>
            </a:r>
            <a:r>
              <a:rPr sz="919" b="0" i="0">
                <a:solidFill>
                  <a:srgbClr val="111827"/>
                </a:solidFill>
                <a:latin typeface="Arial"/>
              </a:rPr>
              <a:t> Scope trade-offs (subject priority, Tier C share), budget for capacity, AI tool go/no-go.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6172200"/>
            <a:ext cx="54864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1">
                <a:solidFill>
                  <a:srgbClr val="6B7280"/>
                </a:solidFill>
                <a:latin typeface="Arial"/>
              </a:rPr>
              <a:t>Plus a Friday 1-page status note (not a meeting) to leadership: on track / at risk, top 3 risks, asks.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
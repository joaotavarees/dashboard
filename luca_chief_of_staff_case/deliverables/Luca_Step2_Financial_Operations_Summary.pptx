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Monthly revenue, gross profit &amp; EBITDA ($k)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1500</c:v>
                </c:pt>
                <c:pt idx="1">
                  <c:v>1590</c:v>
                </c:pt>
                <c:pt idx="2">
                  <c:v>1685</c:v>
                </c:pt>
                <c:pt idx="3">
                  <c:v>1787</c:v>
                </c:pt>
                <c:pt idx="4">
                  <c:v>1894</c:v>
                </c:pt>
                <c:pt idx="5">
                  <c:v>2007</c:v>
                </c:pt>
                <c:pt idx="6">
                  <c:v>2128</c:v>
                </c:pt>
                <c:pt idx="7">
                  <c:v>2255</c:v>
                </c:pt>
                <c:pt idx="8">
                  <c:v>2391</c:v>
                </c:pt>
                <c:pt idx="9">
                  <c:v>2534</c:v>
                </c:pt>
                <c:pt idx="10">
                  <c:v>2686</c:v>
                </c:pt>
                <c:pt idx="11">
                  <c:v>2847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profit</c:v>
                </c:pt>
              </c:strCache>
            </c:strRef>
          </c:tx>
          <c:spPr>
            <a:solidFill>
              <a:srgbClr val="0F9D8A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975</c:v>
                </c:pt>
                <c:pt idx="1">
                  <c:v>1026</c:v>
                </c:pt>
                <c:pt idx="2">
                  <c:v>1080</c:v>
                </c:pt>
                <c:pt idx="3">
                  <c:v>1137</c:v>
                </c:pt>
                <c:pt idx="4">
                  <c:v>1196</c:v>
                </c:pt>
                <c:pt idx="5">
                  <c:v>1259</c:v>
                </c:pt>
                <c:pt idx="6">
                  <c:v>1325</c:v>
                </c:pt>
                <c:pt idx="7">
                  <c:v>1394</c:v>
                </c:pt>
                <c:pt idx="8">
                  <c:v>1467</c:v>
                </c:pt>
                <c:pt idx="9">
                  <c:v>1544</c:v>
                </c:pt>
                <c:pt idx="10">
                  <c:v>1624</c:v>
                </c:pt>
                <c:pt idx="11">
                  <c:v>1708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857</c:v>
                </c:pt>
                <c:pt idx="1">
                  <c:v>884</c:v>
                </c:pt>
                <c:pt idx="2">
                  <c:v>913</c:v>
                </c:pt>
                <c:pt idx="3">
                  <c:v>958</c:v>
                </c:pt>
                <c:pt idx="4">
                  <c:v>1009</c:v>
                </c:pt>
                <c:pt idx="5">
                  <c:v>1058</c:v>
                </c:pt>
                <c:pt idx="6">
                  <c:v>1141</c:v>
                </c:pt>
                <c:pt idx="7">
                  <c:v>1210</c:v>
                </c:pt>
                <c:pt idx="8">
                  <c:v>1282</c:v>
                </c:pt>
                <c:pt idx="9">
                  <c:v>1358</c:v>
                </c:pt>
                <c:pt idx="10">
                  <c:v>1438</c:v>
                </c:pt>
                <c:pt idx="11">
                  <c:v>1522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3F4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New hires per month (Σ = cumulative headcount)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Senior hires</c:v>
                </c:pt>
              </c:strCache>
            </c:strRef>
          </c:tx>
          <c:spPr>
            <a:solidFill>
              <a:srgbClr val="1F2A44"/>
            </a:solidFill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M1 (Σ5)</c:v>
                </c:pt>
                <c:pt idx="1">
                  <c:v>M2 (Σ10)</c:v>
                </c:pt>
                <c:pt idx="2">
                  <c:v>M3 (Σ15)</c:v>
                </c:pt>
                <c:pt idx="3">
                  <c:v>M4 (Σ19)</c:v>
                </c:pt>
                <c:pt idx="4">
                  <c:v>M5 (Σ22)</c:v>
                </c:pt>
                <c:pt idx="5">
                  <c:v>M6 (Σ25)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Junior hires</c:v>
                </c:pt>
              </c:strCache>
            </c:strRef>
          </c:tx>
          <c:spPr>
            <a:solidFill>
              <a:srgbClr val="0F9D8A"/>
            </a:solidFill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M1 (Σ5)</c:v>
                </c:pt>
                <c:pt idx="1">
                  <c:v>M2 (Σ10)</c:v>
                </c:pt>
                <c:pt idx="2">
                  <c:v>M3 (Σ15)</c:v>
                </c:pt>
                <c:pt idx="3">
                  <c:v>M4 (Σ19)</c:v>
                </c:pt>
                <c:pt idx="4">
                  <c:v>M5 (Σ22)</c:v>
                </c:pt>
                <c:pt idx="5">
                  <c:v>M6 (Σ25)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/>
              <a:t>Month-end cash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 loan</c:v>
                </c:pt>
              </c:strCache>
            </c:strRef>
          </c:tx>
          <c:spPr>
            <a:ln w="28575">
              <a:solidFill>
                <a:srgbClr val="1F2A44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3.0</c:v>
                </c:pt>
                <c:pt idx="1">
                  <c:v>3.59</c:v>
                </c:pt>
                <c:pt idx="2">
                  <c:v>4.12</c:v>
                </c:pt>
                <c:pt idx="3">
                  <c:v>4.66</c:v>
                </c:pt>
                <c:pt idx="4">
                  <c:v>5.23</c:v>
                </c:pt>
                <c:pt idx="5">
                  <c:v>5.83</c:v>
                </c:pt>
                <c:pt idx="6">
                  <c:v>6.46</c:v>
                </c:pt>
                <c:pt idx="7">
                  <c:v>7.16</c:v>
                </c:pt>
                <c:pt idx="8">
                  <c:v>7.9</c:v>
                </c:pt>
                <c:pt idx="9">
                  <c:v>8.68</c:v>
                </c:pt>
                <c:pt idx="10">
                  <c:v>9.5</c:v>
                </c:pt>
                <c:pt idx="11">
                  <c:v>10.38</c:v>
                </c:pt>
                <c:pt idx="12">
                  <c:v>11.3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€500k loan</c:v>
                </c:pt>
              </c:strCache>
            </c:strRef>
          </c:tx>
          <c:spPr>
            <a:ln w="28575">
              <a:solidFill>
                <a:srgbClr val="0F9D8A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3.0</c:v>
                </c:pt>
                <c:pt idx="1">
                  <c:v>4.14</c:v>
                </c:pt>
                <c:pt idx="2">
                  <c:v>4.66</c:v>
                </c:pt>
                <c:pt idx="3">
                  <c:v>5.2</c:v>
                </c:pt>
                <c:pt idx="4">
                  <c:v>5.77</c:v>
                </c:pt>
                <c:pt idx="5">
                  <c:v>6.37</c:v>
                </c:pt>
                <c:pt idx="6">
                  <c:v>7.0</c:v>
                </c:pt>
                <c:pt idx="7">
                  <c:v>7.67</c:v>
                </c:pt>
                <c:pt idx="8">
                  <c:v>8.37</c:v>
                </c:pt>
                <c:pt idx="9">
                  <c:v>9.12</c:v>
                </c:pt>
                <c:pt idx="10">
                  <c:v>9.92</c:v>
                </c:pt>
                <c:pt idx="11">
                  <c:v>10.76</c:v>
                </c:pt>
                <c:pt idx="12">
                  <c:v>11.66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Stress – without loan</c:v>
                </c:pt>
              </c:strCache>
            </c:strRef>
          </c:tx>
          <c:spPr>
            <a:ln w="28575">
              <a:solidFill>
                <a:srgbClr val="E86A4A"/>
              </a:solidFill>
              <a:prstDash val="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3.0</c:v>
                </c:pt>
                <c:pt idx="1">
                  <c:v>2.85</c:v>
                </c:pt>
                <c:pt idx="2">
                  <c:v>2.47</c:v>
                </c:pt>
                <c:pt idx="3">
                  <c:v>2.05</c:v>
                </c:pt>
                <c:pt idx="4">
                  <c:v>1.61</c:v>
                </c:pt>
                <c:pt idx="5">
                  <c:v>1.15</c:v>
                </c:pt>
                <c:pt idx="6">
                  <c:v>0.66</c:v>
                </c:pt>
                <c:pt idx="7">
                  <c:v>0.18</c:v>
                </c:pt>
                <c:pt idx="8">
                  <c:v>-0.31</c:v>
                </c:pt>
                <c:pt idx="9">
                  <c:v>-0.82</c:v>
                </c:pt>
                <c:pt idx="10">
                  <c:v>-1.35</c:v>
                </c:pt>
                <c:pt idx="11">
                  <c:v>-1.89</c:v>
                </c:pt>
                <c:pt idx="12">
                  <c:v>-2.44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Stress – with loan</c:v>
                </c:pt>
              </c:strCache>
            </c:strRef>
          </c:tx>
          <c:spPr>
            <a:ln w="28575">
              <a:solidFill>
                <a:srgbClr val="F59E0B"/>
              </a:solidFill>
              <a:prstDash val="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3.0</c:v>
                </c:pt>
                <c:pt idx="1">
                  <c:v>3.4</c:v>
                </c:pt>
                <c:pt idx="2">
                  <c:v>3.02</c:v>
                </c:pt>
                <c:pt idx="3">
                  <c:v>2.6</c:v>
                </c:pt>
                <c:pt idx="4">
                  <c:v>2.15</c:v>
                </c:pt>
                <c:pt idx="5">
                  <c:v>1.69</c:v>
                </c:pt>
                <c:pt idx="6">
                  <c:v>1.2</c:v>
                </c:pt>
                <c:pt idx="7">
                  <c:v>0.68</c:v>
                </c:pt>
                <c:pt idx="8">
                  <c:v>0.15</c:v>
                </c:pt>
                <c:pt idx="9">
                  <c:v>-0.39</c:v>
                </c:pt>
                <c:pt idx="10">
                  <c:v>-0.94</c:v>
                </c:pt>
                <c:pt idx="11">
                  <c:v>-1.51</c:v>
                </c:pt>
                <c:pt idx="12">
                  <c:v>-2.1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3F4F6"/>
              </a:solidFill>
            </a:ln>
          </c:spPr>
        </c:majorGridlines>
        <c:numFmt formatCode="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1 · WHO WE ARE &amp;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Luca can fund its next growth leap from operations; the plan's real risk is execution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749039" cy="4846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338328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LUCA AT A GLANCE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AI-enabled K–12 learning platform for Latin America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Curriculum-aligned short video lessons, practice and teacher analytics, sold to schools as SaaS. One of Mexico's fastest-growing EdTechs.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STAGE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Post-Series A · $1.5M monthly revenue ($18M ARR run-rate) · growing 6% MoM (≈2× a year)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AMBITION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Unicorn within 7 years; expand beyond Mexico to the rest of LatAm and then globally.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MY ROLE AS CHIEF OF STAFF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Turn the plan into an operating system: financial visibility, scalable processes, disciplined hiring and compliant international operations.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173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A44"/>
                </a:solidFill>
                <a:latin typeface="Arial"/>
              </a:rPr>
              <a:t>What the board needs to know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8288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836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653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$1.5M → $2.85M monthly revenue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$25.3M revenue over 12 months; exit ARR run-rate ≈ $34M.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7432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834640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7980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PROFITABILITY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797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54% EBITDA margin, $11.3M cash by M12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Every month is cash-positive on the case cost base. Gross margin slips 65% → 60% (≈$712k of gross profit forgone).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36576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749039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712463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HIRING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6941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25 hires in M1–M6: 10 senior, 15 junior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Leaders first, then juniors. 10 of the 25 go to content production; people cost runs at $121k/month from M6.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5720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4663440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268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Arial"/>
              </a:rPr>
              <a:t>LOAN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085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Recommendation: do not draw the €500k term loan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Runway is not the constraint: cash never falls below $3.6M. Negotiate an undrawn USD/MXN standby line for collection shocks instead.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54864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77840"/>
            <a:ext cx="54864" cy="658368"/>
          </a:xfrm>
          <a:prstGeom prst="rect">
            <a:avLst/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55412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A4A"/>
                </a:solidFill>
                <a:latin typeface="Arial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5229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Gross margin and cash collections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Each 1 pt of GM = $28k/month by M12. Receivables absorb $2.0M of cash as schools pay at 45 days.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2 · KEY INSIGHTS FROM THE 12-MONTH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Revenue nearly doubles and every month generates cash; COGS, not headcount, drives cost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Luca_Step1_Financial_Model.xlsx (Base case unless stated)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REVENUE TRAJECTORY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$1.5M → $2.85M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+6% MoM compound · $25.3M over 12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GROSS MARGIN TREND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65% → 60%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Linear compression · $712k gross profit lost vs. flat 65%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3056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MONTHLY BURN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None: cash-positive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Free cash flow +$593k (M1) → +$926k (M12)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5984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RUNWAY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Self-funding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Cash $3.0M → $11.3M without loan; $11.7M with it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11480" y="2788920"/>
          <a:ext cx="58521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92240" y="2743200"/>
            <a:ext cx="5257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Main cost drivers and how they evolve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92240" y="3090672"/>
          <a:ext cx="5257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566928"/>
                <a:gridCol w="621792"/>
                <a:gridCol w="731520"/>
                <a:gridCol w="548640"/>
                <a:gridCol w="64008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Cost line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12m total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M1→M12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COGS (delivery, hosting, content)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$525k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$1,139k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$9.57M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+117%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People (salary + 15% benefits + hiring)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$58k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$121k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$1.35M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+110%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Overhead (+15% linear)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$40k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$46k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$0.52M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G&amp;A / Legal (fixed)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$20k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$20k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$0.24M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+0%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4800600"/>
            <a:ext cx="52578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COGS is 82% of all costs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and more than doubles (+117%) as revenue grows and margin compresses. Unit cost of content and delivery is the lever that matters most.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Headcount is a small share of the P&amp;L</a:t>
            </a:r>
            <a:r>
              <a:rPr sz="1050" b="0" i="0">
                <a:solidFill>
                  <a:srgbClr val="111827"/>
                </a:solidFill>
                <a:latin typeface="Arial"/>
              </a:rPr>
              <a:t>: the 25 hires cost $1.35M in year 1. They are spread over M1–M6, so people cost peaks in M6 ($139k) and then stays flat.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Cash conversion ≈ 61% of EBITDA</a:t>
            </a:r>
            <a:r>
              <a:rPr sz="1050" b="0" i="0">
                <a:solidFill>
                  <a:srgbClr val="111827"/>
                </a:solidFill>
                <a:latin typeface="Arial"/>
              </a:rPr>
              <a:t>: $4.1M corporate tax (30%) and $2.0M of receivables build-up are the biggest uses of cash.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3 · RECOMMENDED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25 hires front-loaded to M1–M3: leaders first, then juniors where production is constrained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model Headcount tab · salaries $3k junior / $6k senior + 15% benefits; $6k per hire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1417320"/>
          <a:ext cx="42062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572000"/>
            <a:ext cx="4114800" cy="17830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6634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Why this 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29200"/>
            <a:ext cx="3840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Seniors early (8 of 10 by M4)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to set up processes and onboard the juniors who follow.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About 5 hires a month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is the most we can onboard well; it slows to 3 a month once M4 leaders are in.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60% junior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keeps the average cost at $4.8k per head and creates a pipeline for promotions.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846320" y="1463040"/>
          <a:ext cx="690371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685800"/>
                <a:gridCol w="3749039"/>
              </a:tblGrid>
              <a:tr h="50945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Hires (S/J)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Operational capacity it unlocks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Content &amp; Curriculum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10  (2/8)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M1–M6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Head of Content Ops + Curriculum Lead + 8 creators (script, motion, design, Synthesia, sound, QA) sized to the 30 videos/week target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Sales &amp; Partnerships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4  (2/2)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M1–M4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2 AEs (Mexico + first expansion market) + 2 SDRs to keep up 6% MoM new-logo growth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Customer Success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5  (1/4)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M2–M6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Head of CS + 4 associates / implementation: onboarding and renewals keep pace as the school base roughly doubles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Product &amp; Engineering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3  (3/0)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M1–M5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AI/backend + full-stack engineers + PM: AI content tooling to cut cost per video and protect gross margin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Finance, Legal &amp; Ops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3  (2/1)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M2–M6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FP&amp;A, BI analyst, international legal &amp; compliance: close, cash forecasting, entity set-up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25  (10/15)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M1–M6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11827"/>
                          </a:solidFill>
                          <a:latin typeface="Arial"/>
                        </a:rPr>
                        <a:t>New-plan headcount 5 → 25 by M6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84632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PEOPLE COST M1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$58k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79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79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1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RUN-RATE FROM M6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$121k/mo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ONE-OFF HIRING COST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$150k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RUN-RATE AS % OF M12 REVENUE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4.2%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4 · OPERATIONAL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To make the plan realistic we need a hiring engine, one source of truth, and spend &amp; cash controls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PROCESSES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Hiring engine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role scorecards, structured interviews, weekly pipeline review. Target ≤45 days to hire; 5 roles open at any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30-60-90 onboarding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every junior gets a senior buddy, and goals are set in week 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Monthly close in 10 working days</a:t>
            </a:r>
            <a:r>
              <a:rPr sz="980" b="0" i="0">
                <a:solidFill>
                  <a:srgbClr val="111827"/>
                </a:solidFill>
                <a:latin typeface="Arial"/>
              </a:rPr>
              <a:t>, plus a rolling 13-week cash forecast and a monthly board KPI pack.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Collections cadence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invoice on day 1, reminders at 30/45/60 days, escalation at 75 days. Receivables are the biggest use of cash.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6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6168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HRIS + payroll</a:t>
            </a:r>
            <a:r>
              <a:rPr sz="980" b="0" i="0">
                <a:solidFill>
                  <a:srgbClr val="111827"/>
                </a:solidFill>
                <a:latin typeface="Arial"/>
              </a:rPr>
              <a:t> for Mexico; an Employer of Record (EOR) for first hires abroad; ATS to track hiring funnels.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6168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Finance stack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accounting/ERP with Mexican e-invoicing (CFDI/SAT) and multi-currency, ready for new entities.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6168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CRM as the revenue source of truth</a:t>
            </a:r>
            <a:r>
              <a:rPr sz="980" b="0" i="0">
                <a:solidFill>
                  <a:srgbClr val="111827"/>
                </a:solidFill>
                <a:latin typeface="Arial"/>
              </a:rPr>
              <a:t> (pipeline → bookings → billing) feeding a weekly BI dashboard.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6168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6168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464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Content production tracker</a:t>
            </a:r>
            <a:r>
              <a:rPr sz="980" b="0" i="0">
                <a:solidFill>
                  <a:srgbClr val="111827"/>
                </a:solidFill>
                <a:latin typeface="Arial"/>
              </a:rPr>
              <a:t> with stage SLAs and WIP limits, plus AI tooling (see Execution deck).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CONTROLS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5644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Headcount gate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hire only against the approved 25-role plan. Any change needs CEO + CoS sign-off and a P&amp;L impact note.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5644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644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940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Delegation-of-authority matrix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spend approvals by threshold; dual sign-off on payments; monthly vendor review.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5644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5644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Monthly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Gross margin guardrail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track COGS per student and cost per video. If GM is below plan for 2 months, run a cost review.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5644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644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International compliance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entity and tax set-up, transfer pricing, data protection for minors (Mexican LFPDPPP, Brazilian LGPD, GDPR).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779008"/>
            <a:ext cx="11292840" cy="59436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779008"/>
            <a:ext cx="1097280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Owner model: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CoS runs the operating cadence (weekly leadership KPIs, monthly business review, quarterly board pack). Each function head owns their hiring, budget and SLAs. FP&amp;A (hire #6, M2) owns the model and the 13-week cash 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5 · LOAN DECISION &amp; KEY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Don't draw the €500k loan: it barely moves runway and adds FX risk. Watch margin and collections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Luca_Step1_Financial_Model.xlsx (Base case unless stated); Stress = flat revenue, GM→55%, DSO→90 days + $1.0M/mo existing cost base (illustrative)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5760720" cy="685800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486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 i="0">
                <a:solidFill>
                  <a:srgbClr val="F59E0B"/>
                </a:solidFill>
                <a:latin typeface="Arial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A44"/>
                </a:solidFill>
                <a:latin typeface="Arial"/>
              </a:rPr>
              <a:t>Decline the €500k term loan as structured; negotiate an undrawn USD/MXN standby facility instead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240280"/>
          <a:ext cx="329184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749039" y="2331720"/>
          <a:ext cx="246888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68680"/>
                <a:gridCol w="868680"/>
              </a:tblGrid>
              <a:tr h="331470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Runway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No loan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With loan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Self-funding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Self-funding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Downside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Self-funding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Self-funding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7.4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11827"/>
                          </a:solidFill>
                          <a:latin typeface="Arial"/>
                        </a:rPr>
                        <a:t>8.3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749039" y="3703320"/>
            <a:ext cx="24688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Even under Stress, the loan buys only </a:t>
            </a:r>
            <a:r>
              <a:rPr sz="950" b="1" i="0">
                <a:solidFill>
                  <a:srgbClr val="111827"/>
                </a:solidFill>
                <a:latin typeface="Arial"/>
              </a:rPr>
              <a:t>+0.9 months</a:t>
            </a:r>
            <a:r>
              <a:rPr sz="950" b="0" i="0">
                <a:solidFill>
                  <a:srgbClr val="111827"/>
                </a:solidFill>
                <a:latin typeface="Arial"/>
              </a:rPr>
              <a:t>. It does not fix a structural burn.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Base plan can absorb </a:t>
            </a:r>
            <a:r>
              <a:rPr sz="950" b="1" i="0">
                <a:solidFill>
                  <a:srgbClr val="111827"/>
                </a:solidFill>
                <a:latin typeface="Arial"/>
              </a:rPr>
              <a:t>$1.25M/month</a:t>
            </a:r>
            <a:r>
              <a:rPr sz="950" b="0" i="0">
                <a:solidFill>
                  <a:srgbClr val="111827"/>
                </a:solidFill>
                <a:latin typeface="Arial"/>
              </a:rPr>
              <a:t> of extra fixed cost before cash runs 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576072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Runway: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cash never drops below $3.6M without the loan; free cash flow is positive in all 12 months.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Cost: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$43k interest over 24 months. Net cash at M12 is $21k lower with the loan, and $372k of debt is still owed at M12.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Risk: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a EUR liability against MXN/USD revenue. A +0.10 move in EUR/USD adds ≈$54k to repayments. Lenders may also impose covenants and reporting.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Flexibility: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a committed but undrawn line covers the real risk (collection delays) without paying interest. Revisit if we open EUR-cost markets, where EUR debt would be a natural hedge.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257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A44"/>
                </a:solidFill>
                <a:latin typeface="Arial"/>
              </a:rPr>
              <a:t>Two risks leadership should monitor monthly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82880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6596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65960"/>
            <a:ext cx="3840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38528"/>
            <a:ext cx="45262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Gross margin compression outpacing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50592"/>
            <a:ext cx="4983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Plan already assumes 65% → 60%. Each extra 1 pt lost costs ≈$28k/month by M12.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KPIs: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monthly GM %, COGS per active student, cost per finished video, hosting per user.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Trigger: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GM below plan for 2 months running → cost review: vendor renegotiation, AI tooling for content, pricing.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06908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9400" y="420624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06240"/>
            <a:ext cx="3840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178808"/>
            <a:ext cx="45262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Collections and quality of growth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690872"/>
            <a:ext cx="4983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Receivables grow by $2.0M even at 45 days. If schools slip to 90 days, receivables double: ≈$4.3M more cash tied up at M12 revenue.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KPIs: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DSO, % of AR over 60 days, MoM growth, pipeline coverage (3× next quarter), logo churn.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Trigger: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DSO above 60 days, or growth below 4% for 2 months → pause M5–M6 hires and activate the standby 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91072"/>
            <a:ext cx="52578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1">
                <a:solidFill>
                  <a:srgbClr val="6B7280"/>
                </a:solidFill>
                <a:latin typeface="Arial"/>
              </a:rPr>
              <a:t>Also validate before the board: the case cost base excludes Luca's existing team (see Stress).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
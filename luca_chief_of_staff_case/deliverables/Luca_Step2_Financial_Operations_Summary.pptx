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Monthly revenue, gross profit &amp; operating profit ($k)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1500</c:v>
                </c:pt>
                <c:pt idx="1">
                  <c:v>1590</c:v>
                </c:pt>
                <c:pt idx="2">
                  <c:v>1685</c:v>
                </c:pt>
                <c:pt idx="3">
                  <c:v>1787</c:v>
                </c:pt>
                <c:pt idx="4">
                  <c:v>1894</c:v>
                </c:pt>
                <c:pt idx="5">
                  <c:v>2007</c:v>
                </c:pt>
                <c:pt idx="6">
                  <c:v>2128</c:v>
                </c:pt>
                <c:pt idx="7">
                  <c:v>2255</c:v>
                </c:pt>
                <c:pt idx="8">
                  <c:v>2391</c:v>
                </c:pt>
                <c:pt idx="9">
                  <c:v>2534</c:v>
                </c:pt>
                <c:pt idx="10">
                  <c:v>2686</c:v>
                </c:pt>
                <c:pt idx="11">
                  <c:v>2847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profit</c:v>
                </c:pt>
              </c:strCache>
            </c:strRef>
          </c:tx>
          <c:spPr>
            <a:solidFill>
              <a:srgbClr val="0F9D8A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975</c:v>
                </c:pt>
                <c:pt idx="1">
                  <c:v>1026</c:v>
                </c:pt>
                <c:pt idx="2">
                  <c:v>1080</c:v>
                </c:pt>
                <c:pt idx="3">
                  <c:v>1137</c:v>
                </c:pt>
                <c:pt idx="4">
                  <c:v>1196</c:v>
                </c:pt>
                <c:pt idx="5">
                  <c:v>1259</c:v>
                </c:pt>
                <c:pt idx="6">
                  <c:v>1325</c:v>
                </c:pt>
                <c:pt idx="7">
                  <c:v>1394</c:v>
                </c:pt>
                <c:pt idx="8">
                  <c:v>1467</c:v>
                </c:pt>
                <c:pt idx="9">
                  <c:v>1544</c:v>
                </c:pt>
                <c:pt idx="10">
                  <c:v>1624</c:v>
                </c:pt>
                <c:pt idx="11">
                  <c:v>1708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857</c:v>
                </c:pt>
                <c:pt idx="1">
                  <c:v>884</c:v>
                </c:pt>
                <c:pt idx="2">
                  <c:v>913</c:v>
                </c:pt>
                <c:pt idx="3">
                  <c:v>958</c:v>
                </c:pt>
                <c:pt idx="4">
                  <c:v>1009</c:v>
                </c:pt>
                <c:pt idx="5">
                  <c:v>1058</c:v>
                </c:pt>
                <c:pt idx="6">
                  <c:v>1141</c:v>
                </c:pt>
                <c:pt idx="7">
                  <c:v>1210</c:v>
                </c:pt>
                <c:pt idx="8">
                  <c:v>1282</c:v>
                </c:pt>
                <c:pt idx="9">
                  <c:v>1358</c:v>
                </c:pt>
                <c:pt idx="10">
                  <c:v>1438</c:v>
                </c:pt>
                <c:pt idx="11">
                  <c:v>1522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3F4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New hires per month (Σ = cumulative headcount)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Senior hires</c:v>
                </c:pt>
              </c:strCache>
            </c:strRef>
          </c:tx>
          <c:spPr>
            <a:solidFill>
              <a:srgbClr val="1F2A44"/>
            </a:solidFill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M1 (Σ5)</c:v>
                </c:pt>
                <c:pt idx="1">
                  <c:v>M2 (Σ10)</c:v>
                </c:pt>
                <c:pt idx="2">
                  <c:v>M3 (Σ15)</c:v>
                </c:pt>
                <c:pt idx="3">
                  <c:v>M4 (Σ19)</c:v>
                </c:pt>
                <c:pt idx="4">
                  <c:v>M5 (Σ22)</c:v>
                </c:pt>
                <c:pt idx="5">
                  <c:v>M6 (Σ25)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Junior hires</c:v>
                </c:pt>
              </c:strCache>
            </c:strRef>
          </c:tx>
          <c:spPr>
            <a:solidFill>
              <a:srgbClr val="0F9D8A"/>
            </a:solidFill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M1 (Σ5)</c:v>
                </c:pt>
                <c:pt idx="1">
                  <c:v>M2 (Σ10)</c:v>
                </c:pt>
                <c:pt idx="2">
                  <c:v>M3 (Σ15)</c:v>
                </c:pt>
                <c:pt idx="3">
                  <c:v>M4 (Σ19)</c:v>
                </c:pt>
                <c:pt idx="4">
                  <c:v>M5 (Σ22)</c:v>
                </c:pt>
                <c:pt idx="5">
                  <c:v>M6 (Σ25)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/>
              <a:t>Cash position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 loan</c:v>
                </c:pt>
              </c:strCache>
            </c:strRef>
          </c:tx>
          <c:spPr>
            <a:ln w="28575">
              <a:solidFill>
                <a:srgbClr val="1F2A44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3.0</c:v>
                </c:pt>
                <c:pt idx="1">
                  <c:v>3.86</c:v>
                </c:pt>
                <c:pt idx="2">
                  <c:v>4.74</c:v>
                </c:pt>
                <c:pt idx="3">
                  <c:v>5.65</c:v>
                </c:pt>
                <c:pt idx="4">
                  <c:v>6.61</c:v>
                </c:pt>
                <c:pt idx="5">
                  <c:v>7.62</c:v>
                </c:pt>
                <c:pt idx="6">
                  <c:v>8.68</c:v>
                </c:pt>
                <c:pt idx="7">
                  <c:v>9.82</c:v>
                </c:pt>
                <c:pt idx="8">
                  <c:v>11.03</c:v>
                </c:pt>
                <c:pt idx="9">
                  <c:v>12.31</c:v>
                </c:pt>
                <c:pt idx="10">
                  <c:v>13.67</c:v>
                </c:pt>
                <c:pt idx="11">
                  <c:v>15.11</c:v>
                </c:pt>
                <c:pt idx="12">
                  <c:v>16.63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€500k loan</c:v>
                </c:pt>
              </c:strCache>
            </c:strRef>
          </c:tx>
          <c:spPr>
            <a:ln w="28575">
              <a:solidFill>
                <a:srgbClr val="0F9D8A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3.0</c:v>
                </c:pt>
                <c:pt idx="1">
                  <c:v>4.4</c:v>
                </c:pt>
                <c:pt idx="2">
                  <c:v>5.29</c:v>
                </c:pt>
                <c:pt idx="3">
                  <c:v>6.2</c:v>
                </c:pt>
                <c:pt idx="4">
                  <c:v>7.15</c:v>
                </c:pt>
                <c:pt idx="5">
                  <c:v>8.16</c:v>
                </c:pt>
                <c:pt idx="6">
                  <c:v>9.21</c:v>
                </c:pt>
                <c:pt idx="7">
                  <c:v>10.32</c:v>
                </c:pt>
                <c:pt idx="8">
                  <c:v>11.5</c:v>
                </c:pt>
                <c:pt idx="9">
                  <c:v>12.75</c:v>
                </c:pt>
                <c:pt idx="10">
                  <c:v>14.08</c:v>
                </c:pt>
                <c:pt idx="11">
                  <c:v>15.48</c:v>
                </c:pt>
                <c:pt idx="12">
                  <c:v>16.97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3F4F6"/>
              </a:solidFill>
            </a:ln>
          </c:spPr>
        </c:majorGridlines>
        <c:numFmt formatCode="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1 · WHO WE ARE &amp;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Luca can fund its next growth leap from operations; the plan's real risk is execution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749039" cy="4846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338328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LUCA AT A GLANCE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EdTech SaaS for K–12 education in Latin America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One of the fastest-growing startups in Mexico, selling its learning platform and video content to schools.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STAGE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Post-Series A · $1.5M monthly revenue ($18M a year run-rate) · growing 6% a month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AMBITION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Reach unicorn status within 7 years and expand globally.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ROLE OF THE CHIEF OF STAFF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Support that growth with financial insight, scalable systems, strong execution and compliant international operations.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173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A44"/>
                </a:solidFill>
                <a:latin typeface="Arial"/>
              </a:rPr>
              <a:t>What the board needs to know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8288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836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653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$1.5M → $2.85M monthly revenue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$25.3M over 12 months; annual run-rate ≈ $34M by Month 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7432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834640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7980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PROFITABILITY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797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54% operating margin; cash $3.0M → $16.6M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Every month is cash-positive. Gross margin slips 65% → 60% (≈$712k of gross profit forgone).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36576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749039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712463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HIRING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6941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25 hires in M1–M6: 10 senior, 15 junior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Seniors first, then juniors. People cost settles at $121k/month from M6.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5720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4663440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268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Arial"/>
              </a:rPr>
              <a:t>LOAN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085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Recommendation: do not take the €500k loan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Cash never drops below $3.9M without it. The loan adds interest cost and EUR exposure for no runway benefit.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54864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77840"/>
            <a:ext cx="54864" cy="658368"/>
          </a:xfrm>
          <a:prstGeom prst="rect">
            <a:avLst/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55412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A4A"/>
                </a:solidFill>
                <a:latin typeface="Arial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5229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Gross margin and cash collection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Each 1 pt of gross margin = $28k/month by M12. The model assumes schools pay in the month invoiced.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2 · KEY INSIGHTS FROM THE 12-MONTH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Revenue nearly doubles and every month generates cash; cost of revenue, not headcount, drives cost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Luca_Step1_Financial_Model.xlsx (case assumptions; opening cash $3.0M assumed)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REVENUE TRAJECTORY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$1.5M → $2.85M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+6% a month, compounding · $25.3M over 12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GROSS MARGIN TREND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65% → 60%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Equal monthly steps · $712k gross profit lost vs. flat 65%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3056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MONTHLY BURN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None: cash-positive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Cash generated: +$857k (M1) → +$1,522k (M12)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5984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RUNWAY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Not a constraint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Cash $3.0M → $16.6M without loan; $17.0M with it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11480" y="2788920"/>
          <a:ext cx="58521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92240" y="2743200"/>
            <a:ext cx="5257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Main cost drivers and how they evolve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92240" y="3090672"/>
          <a:ext cx="5257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566928"/>
                <a:gridCol w="621792"/>
                <a:gridCol w="731520"/>
                <a:gridCol w="548640"/>
                <a:gridCol w="64008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Cost line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12m total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M1→M12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Cost of 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$525k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$1,139k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$9.57M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+117%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People (salary + benefits + hiring)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$58k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$121k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$1.35M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+110%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Overhead (+15% over 12m)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$40k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$46k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$0.52M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G&amp;A / Legal (fixed)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$20k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$20k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$0.24M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+0%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4800600"/>
            <a:ext cx="52578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Cost of revenue is 82% of all costs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and more than doubles as revenue grows and margin compresses. Unit cost of content and delivery is the lever that matters most.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Headcount is a small share</a:t>
            </a:r>
            <a:r>
              <a:rPr sz="1050" b="0" i="0">
                <a:solidFill>
                  <a:srgbClr val="111827"/>
                </a:solidFill>
                <a:latin typeface="Arial"/>
              </a:rPr>
              <a:t>: the 25 hires cost $1.35M in year 1. People cost peaks in M6 ($139k, the last month with hiring fees), then stays flat.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Large safety margin</a:t>
            </a:r>
            <a:r>
              <a:rPr sz="1050" b="0" i="0">
                <a:solidFill>
                  <a:srgbClr val="111827"/>
                </a:solidFill>
                <a:latin typeface="Arial"/>
              </a:rPr>
              <a:t>: costs outside cost of revenue are only ≈$187k/month, so revenue would have to fall below ≈$0.31M/month before Luca burns cash.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3 · RECOMMENDED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25 hires front-loaded to M1–M3: seniors first, then juniors where production is constrained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model Headcount tab · salaries $3k junior / $6k senior + 15% benefits; $6k per hire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1417320"/>
          <a:ext cx="42062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572000"/>
            <a:ext cx="4114800" cy="17830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6634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Why this 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29200"/>
            <a:ext cx="3840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Seniors early (8 of 10 by M4)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so they can set up processes and onboard the juniors who follow.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About 5 hires a month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at most, so each new person can be onboarded properly; it slows to 3 a month in M5–M6.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60% junior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keeps the average cost at $4.8k per head and builds a bench for promotion.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846320" y="1463040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0120"/>
                <a:gridCol w="4206240"/>
              </a:tblGrid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FFFFFF"/>
                          </a:solidFill>
                          <a:latin typeface="Arial"/>
                        </a:rPr>
                        <a:t>Suggested allocation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FFFFFF"/>
                          </a:solidFill>
                          <a:latin typeface="Arial"/>
                        </a:rPr>
                        <a:t>Hires (S/J)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FFFFFF"/>
                          </a:solidFill>
                          <a:latin typeface="Arial"/>
                        </a:rPr>
                        <a:t>Operational capacity it adds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Content production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10  (2/8)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Script, design, motion, AI-video and sound capacity toward the 30 videos/week target, plus 2 leads to run the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Sales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4  (2/2)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New-school pipeline and closing to sustain 6% monthly growth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Customer success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5  (1/4)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Onboarding and renewals as the customer base roughly doubles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Product &amp; engineering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3  (3/0)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AI content tooling to cut cost per video and protect gross margin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Finance, legal &amp; ops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3  (2/1)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Monthly close, cash forecasting, international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25  (10/15)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New-hire headcount 5 → 25 by M6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84632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PEOPLE COST M1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$58k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79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79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1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RUN-RATE FROM M6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$121k/mo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ONE-OFF HIRING COST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$150k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RUN-RATE AS % OF M12 REVENUE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4.2%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4 · OPERATIONAL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To make the plan realistic we need a hiring engine, one source of truth, and spend &amp; cash controls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PROCESSES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Hiring engine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role scorecards, structured interviews and a weekly pipeline review to sustain 5 hires a month.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30-60-90 onboarding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every junior gets a senior buddy, with goals set in week 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Monthly close in 10 working days</a:t>
            </a:r>
            <a:r>
              <a:rPr sz="980" b="0" i="0">
                <a:solidFill>
                  <a:srgbClr val="111827"/>
                </a:solidFill>
                <a:latin typeface="Arial"/>
              </a:rPr>
              <a:t>, plus a rolling 13-week cash forecast and a monthly board KPI pack.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Invoicing &amp; collections cadence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the plan assumes schools pay in the month invoiced, so late payments need to be chased early.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6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6168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HR &amp; payroll system</a:t>
            </a:r>
            <a:r>
              <a:rPr sz="980" b="0" i="0">
                <a:solidFill>
                  <a:srgbClr val="111827"/>
                </a:solidFill>
                <a:latin typeface="Arial"/>
              </a:rPr>
              <a:t> able to onboard 25 people in 6 months, plus an applicant tracking system for the hiring funnel.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6168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Accounting system</a:t>
            </a:r>
            <a:r>
              <a:rPr sz="980" b="0" i="0">
                <a:solidFill>
                  <a:srgbClr val="111827"/>
                </a:solidFill>
                <a:latin typeface="Arial"/>
              </a:rPr>
              <a:t> with Mexican e-invoicing and multi-currency, ready for international entities.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6168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CRM as the single source of truth</a:t>
            </a:r>
            <a:r>
              <a:rPr sz="980" b="0" i="0">
                <a:solidFill>
                  <a:srgbClr val="111827"/>
                </a:solidFill>
                <a:latin typeface="Arial"/>
              </a:rPr>
              <a:t> for pipeline → contracts → billing, feeding a weekly dashboard.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6168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6168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464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Content production tracker</a:t>
            </a:r>
            <a:r>
              <a:rPr sz="980" b="0" i="0">
                <a:solidFill>
                  <a:srgbClr val="111827"/>
                </a:solidFill>
                <a:latin typeface="Arial"/>
              </a:rPr>
              <a:t> with stage deadlines and work-in-progress limits (see Execution deck).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CONTROLS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5644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Headcount gate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hire only against the approved 25-role plan; any change needs CEO sign-off and a cost note.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5644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644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940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Spend approval limits</a:t>
            </a:r>
            <a:r>
              <a:rPr sz="980" b="0" i="0">
                <a:solidFill>
                  <a:srgbClr val="111827"/>
                </a:solidFill>
                <a:latin typeface="Arial"/>
              </a:rPr>
              <a:t> by amount, dual sign-off on payments, and a monthly vendor review.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5644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5644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Monthly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Gross margin guardrail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track cost per customer and per video. If margin is below plan for 2 months, run a cost review.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5644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644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International compliance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entity and tax set-up and data protection for minors before selling outside Mexico.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779008"/>
            <a:ext cx="11292840" cy="59436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779008"/>
            <a:ext cx="1097280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Owner model: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the Chief of Staff runs the operating cadence (weekly leadership KPIs, monthly business review, quarterly board pack). Each function head owns their hiring, budget and deadlines.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5 · LOAN DECISION &amp; KEY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Don't take the €500k loan: Luca doesn't need the cash, and it adds cost and FX risk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Luca_Step1_Financial_Model.xlsx (case assumptions; opening cash $3.0M assumed)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5760720" cy="685800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486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 i="0">
                <a:solidFill>
                  <a:srgbClr val="F59E0B"/>
                </a:solidFill>
                <a:latin typeface="Arial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A44"/>
                </a:solidFill>
                <a:latin typeface="Arial"/>
              </a:rPr>
              <a:t>Decline the loan. Revisit only if a real cash need appears, such as expansion spending in euros.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240280"/>
          <a:ext cx="329184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794760" y="2331720"/>
          <a:ext cx="24231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731520"/>
                <a:gridCol w="7315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FFFFFF"/>
                          </a:solidFill>
                          <a:latin typeface="Arial"/>
                        </a:rPr>
                        <a:t>Month 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1" i="0">
                          <a:solidFill>
                            <a:srgbClr val="FFFFFF"/>
                          </a:solidFill>
                          <a:latin typeface="Arial"/>
                        </a:rPr>
                        <a:t>No loan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1" i="0">
                          <a:solidFill>
                            <a:srgbClr val="FFFFFF"/>
                          </a:solidFill>
                          <a:latin typeface="Arial"/>
                        </a:rPr>
                        <a:t>With loan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$16.63M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$16.97M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Loan still owed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$372k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Cash minus loan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$16.63M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$16.60M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Lowest cash (12m)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$3.86M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$4.40M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794760" y="402336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The loan adds $550k of cash, about 3% of Month-12 cash, and leaves Luca $31k worse off after interest.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83480"/>
            <a:ext cx="5760720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Runway: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Luca generates cash every month. Runway is not limited with or without the loan.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Cost: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$43k of interest over 24 months ($31k in year 1), with $372k still owed at Month 12.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Risk: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the debt is in euros, but revenue isn't. If the euro rises by $0.10, repayments cost ≈$54k more.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Flexibility: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not borrowing keeps the balance sheet clean for a future equity round or a better-matched facility.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257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A44"/>
                </a:solidFill>
                <a:latin typeface="Arial"/>
              </a:rPr>
              <a:t>Two risks leadership should monitor monthly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828800"/>
            <a:ext cx="5257800" cy="1965960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6596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65960"/>
            <a:ext cx="3840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38528"/>
            <a:ext cx="45262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Gross margin falling faster than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14016"/>
            <a:ext cx="49834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The plan already assumes 65% → 60%. Each extra point lost costs ≈$28k/month by M12.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Watch: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monthly gross margin %, cost per customer, cost per finished video.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Act if: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margin is below plan 2 months in a row → cost review (suppliers, AI tooling for content, pricing).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886200"/>
            <a:ext cx="5257800" cy="1965960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9400" y="402336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23360"/>
            <a:ext cx="3840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995928"/>
            <a:ext cx="45262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Growth and cash collection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471416"/>
            <a:ext cx="49834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6% monthly growth compounds; small slips add up. The model also assumes schools pay in the month invoiced: a 30-day delay would tie up about one month of revenue ($1.5M–$2.8M).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Watch: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monthly growth, sales pipeline, customer churn, days to collect payment.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Act if: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growth is below 4% for 2 months → pause the M5–M6 hires and review the plan.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897880"/>
            <a:ext cx="5257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1">
                <a:solidFill>
                  <a:srgbClr val="6B7280"/>
                </a:solidFill>
                <a:latin typeface="Arial"/>
              </a:rPr>
              <a:t>Note: the case cost base covers only the 25 new hires, overhead and G&amp;A, so Luca generates cash every month and runway is not a constraint. Next step before the board: add Luca's existing cost base (current team, marketing, technology) to the model. That is where runway and the loan decision become relevant.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
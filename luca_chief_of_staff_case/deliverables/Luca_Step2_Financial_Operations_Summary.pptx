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Monthly revenue, gross profit &amp; operating profit ($k)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1500</c:v>
                </c:pt>
                <c:pt idx="1">
                  <c:v>1590</c:v>
                </c:pt>
                <c:pt idx="2">
                  <c:v>1685</c:v>
                </c:pt>
                <c:pt idx="3">
                  <c:v>1787</c:v>
                </c:pt>
                <c:pt idx="4">
                  <c:v>1894</c:v>
                </c:pt>
                <c:pt idx="5">
                  <c:v>2007</c:v>
                </c:pt>
                <c:pt idx="6">
                  <c:v>2128</c:v>
                </c:pt>
                <c:pt idx="7">
                  <c:v>2255</c:v>
                </c:pt>
                <c:pt idx="8">
                  <c:v>2391</c:v>
                </c:pt>
                <c:pt idx="9">
                  <c:v>2534</c:v>
                </c:pt>
                <c:pt idx="10">
                  <c:v>2686</c:v>
                </c:pt>
                <c:pt idx="11">
                  <c:v>2847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0F9D8A"/>
            </a:solidFill>
          </c:spP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975</c:v>
                </c:pt>
                <c:pt idx="1">
                  <c:v>1026</c:v>
                </c:pt>
                <c:pt idx="2">
                  <c:v>1080</c:v>
                </c:pt>
                <c:pt idx="3">
                  <c:v>1137</c:v>
                </c:pt>
                <c:pt idx="4">
                  <c:v>1196</c:v>
                </c:pt>
                <c:pt idx="5">
                  <c:v>1259</c:v>
                </c:pt>
                <c:pt idx="6">
                  <c:v>1325</c:v>
                </c:pt>
                <c:pt idx="7">
                  <c:v>1394</c:v>
                </c:pt>
                <c:pt idx="8">
                  <c:v>1467</c:v>
                </c:pt>
                <c:pt idx="9">
                  <c:v>1544</c:v>
                </c:pt>
                <c:pt idx="10">
                  <c:v>1624</c:v>
                </c:pt>
                <c:pt idx="11">
                  <c:v>1708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857</c:v>
                </c:pt>
                <c:pt idx="1">
                  <c:v>884</c:v>
                </c:pt>
                <c:pt idx="2">
                  <c:v>913</c:v>
                </c:pt>
                <c:pt idx="3">
                  <c:v>958</c:v>
                </c:pt>
                <c:pt idx="4">
                  <c:v>1009</c:v>
                </c:pt>
                <c:pt idx="5">
                  <c:v>1058</c:v>
                </c:pt>
                <c:pt idx="6">
                  <c:v>1141</c:v>
                </c:pt>
                <c:pt idx="7">
                  <c:v>1210</c:v>
                </c:pt>
                <c:pt idx="8">
                  <c:v>1282</c:v>
                </c:pt>
                <c:pt idx="9">
                  <c:v>1358</c:v>
                </c:pt>
                <c:pt idx="10">
                  <c:v>1438</c:v>
                </c:pt>
                <c:pt idx="11">
                  <c:v>1522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3F4F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1182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New hires per month (Σ = cumulative headcount)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Senior hires</c:v>
                </c:pt>
              </c:strCache>
            </c:strRef>
          </c:tx>
          <c:spPr>
            <a:solidFill>
              <a:srgbClr val="1F2A44"/>
            </a:solidFill>
          </c:spPr>
          <c:dLbls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M1 (Σ5)</c:v>
                </c:pt>
                <c:pt idx="1">
                  <c:v>M2 (Σ10)</c:v>
                </c:pt>
                <c:pt idx="2">
                  <c:v>M3 (Σ15)</c:v>
                </c:pt>
                <c:pt idx="3">
                  <c:v>M4 (Σ19)</c:v>
                </c:pt>
                <c:pt idx="4">
                  <c:v>M5 (Σ22)</c:v>
                </c:pt>
                <c:pt idx="5">
                  <c:v>M6 (Σ25)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Junior hires</c:v>
                </c:pt>
              </c:strCache>
            </c:strRef>
          </c:tx>
          <c:spPr>
            <a:solidFill>
              <a:srgbClr val="0F9D8A"/>
            </a:solidFill>
          </c:spPr>
          <c:dLbls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M1 (Σ5)</c:v>
                </c:pt>
                <c:pt idx="1">
                  <c:v>M2 (Σ10)</c:v>
                </c:pt>
                <c:pt idx="2">
                  <c:v>M3 (Σ15)</c:v>
                </c:pt>
                <c:pt idx="3">
                  <c:v>M4 (Σ19)</c:v>
                </c:pt>
                <c:pt idx="4">
                  <c:v>M5 (Σ22)</c:v>
                </c:pt>
                <c:pt idx="5">
                  <c:v>M6 (Σ25)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5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1182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/>
              <a:t>Cash position ($M)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loan</c:v>
                </c:pt>
              </c:strCache>
            </c:strRef>
          </c:tx>
          <c:spPr>
            <a:ln w="28575">
              <a:solidFill>
                <a:srgbClr val="1F2A44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</c:v>
                </c:pt>
                <c:pt idx="5">
                  <c:v>M5</c:v>
                </c:pt>
                <c:pt idx="6">
                  <c:v>M6</c:v>
                </c:pt>
                <c:pt idx="7">
                  <c:v>M7</c:v>
                </c:pt>
                <c:pt idx="8">
                  <c:v>M8</c:v>
                </c:pt>
                <c:pt idx="9">
                  <c:v>M9</c:v>
                </c:pt>
                <c:pt idx="10">
                  <c:v>M10</c:v>
                </c:pt>
                <c:pt idx="11">
                  <c:v>M11</c:v>
                </c:pt>
                <c:pt idx="12">
                  <c:v>M12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3.0</c:v>
                </c:pt>
                <c:pt idx="1">
                  <c:v>3.86</c:v>
                </c:pt>
                <c:pt idx="2">
                  <c:v>4.74</c:v>
                </c:pt>
                <c:pt idx="3">
                  <c:v>5.65</c:v>
                </c:pt>
                <c:pt idx="4">
                  <c:v>6.61</c:v>
                </c:pt>
                <c:pt idx="5">
                  <c:v>7.62</c:v>
                </c:pt>
                <c:pt idx="6">
                  <c:v>8.68</c:v>
                </c:pt>
                <c:pt idx="7">
                  <c:v>9.82</c:v>
                </c:pt>
                <c:pt idx="8">
                  <c:v>11.03</c:v>
                </c:pt>
                <c:pt idx="9">
                  <c:v>12.31</c:v>
                </c:pt>
                <c:pt idx="10">
                  <c:v>13.67</c:v>
                </c:pt>
                <c:pt idx="11">
                  <c:v>15.11</c:v>
                </c:pt>
                <c:pt idx="12">
                  <c:v>16.63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€500k loan</c:v>
                </c:pt>
              </c:strCache>
            </c:strRef>
          </c:tx>
          <c:spPr>
            <a:ln w="28575">
              <a:solidFill>
                <a:srgbClr val="0F9D8A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</c:v>
                </c:pt>
                <c:pt idx="5">
                  <c:v>M5</c:v>
                </c:pt>
                <c:pt idx="6">
                  <c:v>M6</c:v>
                </c:pt>
                <c:pt idx="7">
                  <c:v>M7</c:v>
                </c:pt>
                <c:pt idx="8">
                  <c:v>M8</c:v>
                </c:pt>
                <c:pt idx="9">
                  <c:v>M9</c:v>
                </c:pt>
                <c:pt idx="10">
                  <c:v>M10</c:v>
                </c:pt>
                <c:pt idx="11">
                  <c:v>M11</c:v>
                </c:pt>
                <c:pt idx="12">
                  <c:v>M12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3.0</c:v>
                </c:pt>
                <c:pt idx="1">
                  <c:v>4.4</c:v>
                </c:pt>
                <c:pt idx="2">
                  <c:v>5.29</c:v>
                </c:pt>
                <c:pt idx="3">
                  <c:v>6.2</c:v>
                </c:pt>
                <c:pt idx="4">
                  <c:v>7.15</c:v>
                </c:pt>
                <c:pt idx="5">
                  <c:v>8.16</c:v>
                </c:pt>
                <c:pt idx="6">
                  <c:v>9.21</c:v>
                </c:pt>
                <c:pt idx="7">
                  <c:v>10.32</c:v>
                </c:pt>
                <c:pt idx="8">
                  <c:v>11.5</c:v>
                </c:pt>
                <c:pt idx="9">
                  <c:v>12.75</c:v>
                </c:pt>
                <c:pt idx="10">
                  <c:v>14.08</c:v>
                </c:pt>
                <c:pt idx="11">
                  <c:v>15.48</c:v>
                </c:pt>
                <c:pt idx="12">
                  <c:v>16.97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3F4F6"/>
              </a:solidFill>
            </a:ln>
          </c:spPr>
        </c:majorGridlines>
        <c:numFmt formatCode="0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1182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1 · WHO WE ARE &amp;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Luca can fund its next growth leap from operations; the plan's real risk is execution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749039" cy="4846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383280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0F9D8A"/>
                </a:solidFill>
                <a:latin typeface="Arial"/>
              </a:rPr>
              <a:t>LUCA AT A GLANCE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EdTech SaaS for K–12 education in Latin America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One of the fastest-growing startups in Mexico, selling its learning platform and video content to schools.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F9D8A"/>
                </a:solidFill>
                <a:latin typeface="Arial"/>
              </a:rPr>
              <a:t>STAGE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Post-Series A · $1.5M monthly revenue ($18M a year run-rate) · growing 6% a month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F9D8A"/>
                </a:solidFill>
                <a:latin typeface="Arial"/>
              </a:rPr>
              <a:t>AMBITION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Reach unicorn status within 7 years and expand globally.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F9D8A"/>
                </a:solidFill>
                <a:latin typeface="Arial"/>
              </a:rPr>
              <a:t>ROLE OF THE CHIEF OF STAFF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Support that growth with financial insight, scalable systems, strong execution and compliant international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Arial"/>
              </a:rPr>
              <a:t>What the board needs to know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7269480" cy="841248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920240"/>
            <a:ext cx="54864" cy="65836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83664"/>
            <a:ext cx="14173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F9D8A"/>
                </a:solidFill>
                <a:latin typeface="Arial"/>
              </a:rP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65376"/>
            <a:ext cx="5623560" cy="7863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F2A44"/>
                </a:solidFill>
                <a:latin typeface="Arial"/>
              </a:rPr>
              <a:t>$1.5M → $2.85M monthly revenue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$25.3M over 12 months; annual run-rate ≈ $34M by Month 12.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743200"/>
            <a:ext cx="7269480" cy="841248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834640"/>
            <a:ext cx="54864" cy="65836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798064"/>
            <a:ext cx="14173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F9D8A"/>
                </a:solidFill>
                <a:latin typeface="Arial"/>
              </a:rPr>
              <a:t>PROFITABILITY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79776"/>
            <a:ext cx="5623560" cy="7863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F2A44"/>
                </a:solidFill>
                <a:latin typeface="Arial"/>
              </a:rPr>
              <a:t>54% operating margin; cash $3.0M → $16.6M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Every month is cash-positive. Gross margin slips 65% → 60% (≈$712k of gross profit forgone).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657600"/>
            <a:ext cx="7269480" cy="841248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749039"/>
            <a:ext cx="54864" cy="65836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712463"/>
            <a:ext cx="14173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F9D8A"/>
                </a:solidFill>
                <a:latin typeface="Arial"/>
              </a:rPr>
              <a:t>HIRING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694176"/>
            <a:ext cx="5623560" cy="7863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F2A44"/>
                </a:solidFill>
                <a:latin typeface="Arial"/>
              </a:rPr>
              <a:t>25 hires in M1–M6: 10 senior, 15 junior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Seniors first, then juniors. People cost settles at $121k/month from M6.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572000"/>
            <a:ext cx="7269480" cy="841248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4663440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626864"/>
            <a:ext cx="14173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9E0B"/>
                </a:solidFill>
                <a:latin typeface="Arial"/>
              </a:rPr>
              <a:t>LOAN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08576"/>
            <a:ext cx="5623560" cy="7863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F2A44"/>
                </a:solidFill>
                <a:latin typeface="Arial"/>
              </a:rPr>
              <a:t>Recommendation: do not take the €500k loan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Cash never drops below $3.9M without it. The loan adds interest cost and EUR exposure for no runway benefit.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5486400"/>
            <a:ext cx="7269480" cy="841248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77840"/>
            <a:ext cx="54864" cy="658368"/>
          </a:xfrm>
          <a:prstGeom prst="rect">
            <a:avLst/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541264"/>
            <a:ext cx="14173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86A4A"/>
                </a:solidFill>
                <a:latin typeface="Arial"/>
              </a:rPr>
              <a:t>WATCH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522976"/>
            <a:ext cx="5623560" cy="7863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F2A44"/>
                </a:solidFill>
                <a:latin typeface="Arial"/>
              </a:rPr>
              <a:t>Gross margin and cash collection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Each 1 pt of gross margin = $28k/month by M12. The model assumes schools pay in the month invoiced.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2 · KEY INSIGHTS FROM THE 12-MONTH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Revenue nearly doubles and every month generates cash; cost of revenue, not headcount, drives cost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   |   Source: Luca_Step1_Financial_Model.xlsx (case assumptions; opening cash $3.0M assumed)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724912" cy="1143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72768"/>
            <a:ext cx="54864" cy="92354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36192"/>
            <a:ext cx="2468880" cy="10332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REVENUE TRAJECTORY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2A44"/>
                </a:solidFill>
                <a:latin typeface="Arial"/>
              </a:rPr>
              <a:t>$1.5M → $2.85M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+6% a month, compounding · $25.3M over 12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463040"/>
            <a:ext cx="2724912" cy="1143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572768"/>
            <a:ext cx="54864" cy="92354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36192"/>
            <a:ext cx="2468880" cy="10332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GROSS MARGIN TREND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2A44"/>
                </a:solidFill>
                <a:latin typeface="Arial"/>
              </a:rPr>
              <a:t>65% → 60%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Equal monthly steps · $712k gross profit lost vs. flat 65%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463040"/>
            <a:ext cx="2724912" cy="1143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572768"/>
            <a:ext cx="54864" cy="92354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536192"/>
            <a:ext cx="2468880" cy="10332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MONTHLY BURN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2A44"/>
                </a:solidFill>
                <a:latin typeface="Arial"/>
              </a:rPr>
              <a:t>None: cash-positive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Cash generated: +$857k (M1) → +$1,522k (M12)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1463040"/>
            <a:ext cx="2724912" cy="1143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1572768"/>
            <a:ext cx="54864" cy="92354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1536192"/>
            <a:ext cx="2468880" cy="10332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RUNWAY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2A44"/>
                </a:solidFill>
                <a:latin typeface="Arial"/>
              </a:rPr>
              <a:t>Not a constraint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Cash $3.0M → $16.6M without loan; $17.0M with it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11480" y="2788920"/>
          <a:ext cx="58521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92240" y="2743200"/>
            <a:ext cx="5257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2A44"/>
                </a:solidFill>
                <a:latin typeface="Arial"/>
              </a:rPr>
              <a:t>Main cost drivers and how they evolve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92240" y="3090672"/>
          <a:ext cx="5257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566928"/>
                <a:gridCol w="621792"/>
                <a:gridCol w="731520"/>
                <a:gridCol w="548640"/>
                <a:gridCol w="64008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Cost line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M1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M12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12m total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M1→M12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Cost of revenue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$525k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$1,139k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$9.57M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+117%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People (salary + benefits + hiring)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$58k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$121k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$1.35M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+110%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Overhead (+15% over 12m)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$40k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$46k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$0.52M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+15%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G&amp;A / Legal (fixed)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$20k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$20k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$0.24M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11827"/>
                          </a:solidFill>
                          <a:latin typeface="Arial"/>
                        </a:rPr>
                        <a:t>+0%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92240" y="4800600"/>
            <a:ext cx="52578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50" b="1" i="0">
                <a:solidFill>
                  <a:srgbClr val="111827"/>
                </a:solidFill>
                <a:latin typeface="Arial"/>
              </a:rPr>
              <a:t>Cost of revenue is 82% of all costs</a:t>
            </a:r>
            <a:r>
              <a:rPr sz="1050" b="0" i="0">
                <a:solidFill>
                  <a:srgbClr val="111827"/>
                </a:solidFill>
                <a:latin typeface="Arial"/>
              </a:rPr>
              <a:t> and more than doubles as revenue grows and margin compresses. Unit cost of content and delivery is the lever that matters most.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50" b="1" i="0">
                <a:solidFill>
                  <a:srgbClr val="111827"/>
                </a:solidFill>
                <a:latin typeface="Arial"/>
              </a:rPr>
              <a:t>Headcount is a small share</a:t>
            </a:r>
            <a:r>
              <a:rPr sz="1050" b="0" i="0">
                <a:solidFill>
                  <a:srgbClr val="111827"/>
                </a:solidFill>
                <a:latin typeface="Arial"/>
              </a:rPr>
              <a:t>: the 25 hires cost $1.35M in year 1. People cost peaks in M6 ($139k, the last month with hiring fees), then stays flat.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50" b="1" i="0">
                <a:solidFill>
                  <a:srgbClr val="111827"/>
                </a:solidFill>
                <a:latin typeface="Arial"/>
              </a:rPr>
              <a:t>Large safety margin</a:t>
            </a:r>
            <a:r>
              <a:rPr sz="1050" b="0" i="0">
                <a:solidFill>
                  <a:srgbClr val="111827"/>
                </a:solidFill>
                <a:latin typeface="Arial"/>
              </a:rPr>
              <a:t>: costs outside cost of revenue are only ≈$187k/month, so revenue would have to fall below ≈$0.31M/month before Luca burns cash.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3 · RECOMMENDED HIRING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25 hires front-loaded to M1–M3: seniors first, then juniors where production is constrained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   |   Source: model Headcount tab · salaries $3k junior / $6k senior + 15% benefits; $6k per hire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42062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572000"/>
            <a:ext cx="4114800" cy="1783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6344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2A44"/>
                </a:solidFill>
                <a:latin typeface="Arial"/>
              </a:rPr>
              <a:t>Why this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29200"/>
            <a:ext cx="38404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00" b="1" i="0">
                <a:solidFill>
                  <a:srgbClr val="111827"/>
                </a:solidFill>
                <a:latin typeface="Arial"/>
              </a:rPr>
              <a:t>Seniors early (8 of 10 by M4)</a:t>
            </a:r>
            <a:r>
              <a:rPr sz="1000" b="0" i="0">
                <a:solidFill>
                  <a:srgbClr val="111827"/>
                </a:solidFill>
                <a:latin typeface="Arial"/>
              </a:rPr>
              <a:t> so they can set up processes and onboard the juniors who follow.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00" b="1" i="0">
                <a:solidFill>
                  <a:srgbClr val="111827"/>
                </a:solidFill>
                <a:latin typeface="Arial"/>
              </a:rPr>
              <a:t>About 5 hires a month</a:t>
            </a:r>
            <a:r>
              <a:rPr sz="1000" b="0" i="0">
                <a:solidFill>
                  <a:srgbClr val="111827"/>
                </a:solidFill>
                <a:latin typeface="Arial"/>
              </a:rPr>
              <a:t> at most, so each new person can be onboarded properly; it slows to 3 a month in M5–M6.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00" b="1" i="0">
                <a:solidFill>
                  <a:srgbClr val="111827"/>
                </a:solidFill>
                <a:latin typeface="Arial"/>
              </a:rPr>
              <a:t>60% junior</a:t>
            </a:r>
            <a:r>
              <a:rPr sz="1000" b="0" i="0">
                <a:solidFill>
                  <a:srgbClr val="111827"/>
                </a:solidFill>
                <a:latin typeface="Arial"/>
              </a:rPr>
              <a:t> keeps the average cost at $4.8k per head and builds a bench for promotion.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846320" y="1463040"/>
          <a:ext cx="6903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60120"/>
                <a:gridCol w="4206240"/>
              </a:tblGrid>
              <a:tr h="509451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FFFFFF"/>
                          </a:solidFill>
                          <a:latin typeface="Arial"/>
                        </a:rPr>
                        <a:t>Suggested allocation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FFFFFF"/>
                          </a:solidFill>
                          <a:latin typeface="Arial"/>
                        </a:rPr>
                        <a:t>Hires (S/J)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FFFFFF"/>
                          </a:solidFill>
                          <a:latin typeface="Arial"/>
                        </a:rPr>
                        <a:t>Operational capacity it adds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11827"/>
                          </a:solidFill>
                          <a:latin typeface="Arial"/>
                        </a:rPr>
                        <a:t>Content production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10  (2/8)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Script, design, motion, AI-video and sound capacity toward the 30 videos/week target, plus 2 leads to run the 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11827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4  (2/2)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New-school pipeline and closing to sustain 6% monthly growth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11827"/>
                          </a:solidFill>
                          <a:latin typeface="Arial"/>
                        </a:rPr>
                        <a:t>Customer success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5  (1/4)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Onboarding and renewals as the customer base roughly doubles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11827"/>
                          </a:solidFill>
                          <a:latin typeface="Arial"/>
                        </a:rPr>
                        <a:t>Product &amp; engineering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3  (3/0)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AI content tooling to cut cost per video and protect gross margin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11827"/>
                          </a:solidFill>
                          <a:latin typeface="Arial"/>
                        </a:rPr>
                        <a:t>Finance, legal &amp; ops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3  (2/1)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11827"/>
                          </a:solidFill>
                          <a:latin typeface="Arial"/>
                        </a:rPr>
                        <a:t>Monthly close, cash forecasting, international compliance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11827"/>
                          </a:solidFill>
                          <a:latin typeface="Arial"/>
                        </a:rPr>
                        <a:t>25  (10/15)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11827"/>
                          </a:solidFill>
                          <a:latin typeface="Arial"/>
                        </a:rPr>
                        <a:t>New-hire headcount 5 → 25 by M6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846320" y="52120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5321808"/>
            <a:ext cx="54864" cy="92354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5285232"/>
            <a:ext cx="1389888" cy="10332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PEOPLE COST M1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Arial"/>
              </a:rPr>
              <a:t>$58k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79" y="52120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79" y="5321808"/>
            <a:ext cx="54864" cy="92354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1" y="5285232"/>
            <a:ext cx="1389888" cy="10332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RUN-RATE FROM M6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Arial"/>
              </a:rPr>
              <a:t>$121k/mo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52120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5321808"/>
            <a:ext cx="54864" cy="92354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5285232"/>
            <a:ext cx="1389888" cy="10332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ONE-OFF HIRING COST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Arial"/>
              </a:rPr>
              <a:t>$150k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52120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5321808"/>
            <a:ext cx="54864" cy="92354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5285232"/>
            <a:ext cx="1389888" cy="10332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RUN-RATE AS % OF M12 REVENUE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Arial"/>
              </a:rPr>
              <a:t>4.2%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4 · OPERATIONAL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To make the plan realistic we need a hiring engine, one source of truth, and spend &amp; cash controls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57600" cy="411480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3657600" cy="3749039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039112"/>
            <a:ext cx="777240" cy="237744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039112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Before 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993392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Hiring engine</a:t>
            </a:r>
            <a:r>
              <a:rPr sz="980" b="0" i="0">
                <a:solidFill>
                  <a:srgbClr val="111827"/>
                </a:solidFill>
                <a:latin typeface="Arial"/>
              </a:rPr>
              <a:t>: role scorecards, structured interviews and a weekly pipeline review to sustain 5 hires a month.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44368"/>
            <a:ext cx="777240" cy="237744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44368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Before 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898648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30-60-90 onboarding</a:t>
            </a:r>
            <a:r>
              <a:rPr sz="980" b="0" i="0">
                <a:solidFill>
                  <a:srgbClr val="111827"/>
                </a:solidFill>
                <a:latin typeface="Arial"/>
              </a:rPr>
              <a:t>: every junior gets a senior buddy, with goals set in week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9624"/>
            <a:ext cx="777240" cy="237744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849624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By 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803904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Monthly close in 10 working days</a:t>
            </a:r>
            <a:r>
              <a:rPr sz="980" b="0" i="0">
                <a:solidFill>
                  <a:srgbClr val="111827"/>
                </a:solidFill>
                <a:latin typeface="Arial"/>
              </a:rPr>
              <a:t>, plus a rolling 13-week cash forecast and a monthly board KPI pack.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54880"/>
            <a:ext cx="777240" cy="237744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754880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By 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709160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Invoicing &amp; collections cadence</a:t>
            </a:r>
            <a:r>
              <a:rPr sz="980" b="0" i="0">
                <a:solidFill>
                  <a:srgbClr val="111827"/>
                </a:solidFill>
                <a:latin typeface="Arial"/>
              </a:rPr>
              <a:t>: the plan assumes schools pay in the month invoiced, so late payments need to be chased early.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1463040"/>
            <a:ext cx="3657600" cy="41148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1463040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1920240"/>
            <a:ext cx="3657600" cy="374903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61688" y="2039112"/>
            <a:ext cx="777240" cy="237744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2039112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Before M1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1993392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HR &amp; payroll system</a:t>
            </a:r>
            <a:r>
              <a:rPr sz="980" b="0" i="0">
                <a:solidFill>
                  <a:srgbClr val="111827"/>
                </a:solidFill>
                <a:latin typeface="Arial"/>
              </a:rPr>
              <a:t> able to onboard 25 people in 6 months, plus an applicant tracking system for the hiring funnel.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1688" y="2944368"/>
            <a:ext cx="777240" cy="237744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2944368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By M2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2898648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Accounting system</a:t>
            </a:r>
            <a:r>
              <a:rPr sz="980" b="0" i="0">
                <a:solidFill>
                  <a:srgbClr val="111827"/>
                </a:solidFill>
                <a:latin typeface="Arial"/>
              </a:rPr>
              <a:t> with Mexican e-invoicing and multi-currency, ready for international entities.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1688" y="3849624"/>
            <a:ext cx="777240" cy="237744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3849624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By M3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4648" y="3803904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CRM as the single source of truth</a:t>
            </a:r>
            <a:r>
              <a:rPr sz="980" b="0" i="0">
                <a:solidFill>
                  <a:srgbClr val="111827"/>
                </a:solidFill>
                <a:latin typeface="Arial"/>
              </a:rPr>
              <a:t> for pipeline → contracts → billing, feeding a weekly dashboard.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1688" y="4754880"/>
            <a:ext cx="777240" cy="237744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4754880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By M2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4709160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Content production tracker</a:t>
            </a:r>
            <a:r>
              <a:rPr sz="980" b="0" i="0">
                <a:solidFill>
                  <a:srgbClr val="111827"/>
                </a:solidFill>
                <a:latin typeface="Arial"/>
              </a:rPr>
              <a:t> with stage deadlines and work-in-progress limits (see Execution deck).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463040"/>
            <a:ext cx="3657600" cy="411480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463040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CONTROLS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1920240"/>
            <a:ext cx="3657600" cy="3749039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56448" y="2039112"/>
            <a:ext cx="777240" cy="237744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2039112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Before M1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1993392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Headcount gate</a:t>
            </a:r>
            <a:r>
              <a:rPr sz="980" b="0" i="0">
                <a:solidFill>
                  <a:srgbClr val="111827"/>
                </a:solidFill>
                <a:latin typeface="Arial"/>
              </a:rPr>
              <a:t>: hire only against the approved 25-role plan; any change needs CEO sign-off and a cost note.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6448" y="2944368"/>
            <a:ext cx="777240" cy="237744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6448" y="2944368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Before M1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9408" y="2898648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Spend approval limits</a:t>
            </a:r>
            <a:r>
              <a:rPr sz="980" b="0" i="0">
                <a:solidFill>
                  <a:srgbClr val="111827"/>
                </a:solidFill>
                <a:latin typeface="Arial"/>
              </a:rPr>
              <a:t> by amount, dual sign-off on payments, and a monthly vendor review.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56448" y="3849624"/>
            <a:ext cx="777240" cy="237744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56448" y="3849624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Monthly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3803904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Gross margin guardrail</a:t>
            </a:r>
            <a:r>
              <a:rPr sz="980" b="0" i="0">
                <a:solidFill>
                  <a:srgbClr val="111827"/>
                </a:solidFill>
                <a:latin typeface="Arial"/>
              </a:rPr>
              <a:t>: track cost per customer and per video. If margin is below plan for 2 months, run a cost review.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56448" y="4754880"/>
            <a:ext cx="777240" cy="237744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56448" y="4754880"/>
            <a:ext cx="7772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By M6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9408" y="4709160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International compliance</a:t>
            </a:r>
            <a:r>
              <a:rPr sz="980" b="0" i="0">
                <a:solidFill>
                  <a:srgbClr val="111827"/>
                </a:solidFill>
                <a:latin typeface="Arial"/>
              </a:rPr>
              <a:t>: entity and tax set-up and data protection for minors before selling outside Mexico.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779008"/>
            <a:ext cx="11292840" cy="59436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779008"/>
            <a:ext cx="109728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Owner model: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the Chief of Staff runs the operating cadence (weekly leadership KPIs, monthly business review, quarterly board pack). Each function head owns their hiring, budget and deadlines.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5 · LOAN DECISION &amp; 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Don't take the €500k loan: Luca doesn't need the cash, and it adds cost and FX risk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   |   Source: Luca_Step1_Financial_Model.xlsx (case assumptions; opening cash $3.0M assumed)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4864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F59E0B"/>
                </a:solidFill>
                <a:latin typeface="Arial"/>
              </a:rPr>
              <a:t>RECOMMENDATION</a:t>
            </a:r>
          </a:p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Arial"/>
              </a:rPr>
              <a:t>Decline the loan. Revisit only if a real cash need appears, such as expansion spending in euros.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240280"/>
          <a:ext cx="329184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94760" y="2331720"/>
          <a:ext cx="24231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731520"/>
                <a:gridCol w="73152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FFFFFF"/>
                          </a:solidFill>
                          <a:latin typeface="Arial"/>
                        </a:rPr>
                        <a:t>Month 12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1" i="0">
                          <a:solidFill>
                            <a:srgbClr val="FFFFFF"/>
                          </a:solidFill>
                          <a:latin typeface="Arial"/>
                        </a:rPr>
                        <a:t>No loan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1" i="0">
                          <a:solidFill>
                            <a:srgbClr val="FFFFFF"/>
                          </a:solidFill>
                          <a:latin typeface="Arial"/>
                        </a:rPr>
                        <a:t>With loan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Cash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$16.63M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$16.97M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Loan still owed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$372k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Cash minus loan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$16.63M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$16.60M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Lowest cash (12m)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$3.86M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$4.40M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794760" y="402336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The loan adds $550k of cash, about 3% of Month-12 cash, and leaves Luca $31k worse off after interest.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576072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80" b="1" i="0">
                <a:solidFill>
                  <a:srgbClr val="111827"/>
                </a:solidFill>
                <a:latin typeface="Arial"/>
              </a:rPr>
              <a:t>Runway:</a:t>
            </a:r>
            <a:r>
              <a:rPr sz="980" b="0" i="0">
                <a:solidFill>
                  <a:srgbClr val="111827"/>
                </a:solidFill>
                <a:latin typeface="Arial"/>
              </a:rPr>
              <a:t> Luca generates cash every month. Runway is not limited with or without the loan.</a:t>
            </a:r>
          </a:p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80" b="1" i="0">
                <a:solidFill>
                  <a:srgbClr val="111827"/>
                </a:solidFill>
                <a:latin typeface="Arial"/>
              </a:rPr>
              <a:t>Cost:</a:t>
            </a:r>
            <a:r>
              <a:rPr sz="980" b="0" i="0">
                <a:solidFill>
                  <a:srgbClr val="111827"/>
                </a:solidFill>
                <a:latin typeface="Arial"/>
              </a:rPr>
              <a:t> $43k of interest over 24 months ($31k in year 1), with $372k still owed at Month 12.</a:t>
            </a:r>
          </a:p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80" b="1" i="0">
                <a:solidFill>
                  <a:srgbClr val="111827"/>
                </a:solidFill>
                <a:latin typeface="Arial"/>
              </a:rPr>
              <a:t>Risk:</a:t>
            </a:r>
            <a:r>
              <a:rPr sz="980" b="0" i="0">
                <a:solidFill>
                  <a:srgbClr val="111827"/>
                </a:solidFill>
                <a:latin typeface="Arial"/>
              </a:rPr>
              <a:t> the debt is in euros, but revenue isn't. If the euro rises by $0.10, repayments cost ≈$54k more.</a:t>
            </a:r>
          </a:p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80" b="1" i="0">
                <a:solidFill>
                  <a:srgbClr val="111827"/>
                </a:solidFill>
                <a:latin typeface="Arial"/>
              </a:rPr>
              <a:t>Flexibility:</a:t>
            </a:r>
            <a:r>
              <a:rPr sz="980" b="0" i="0">
                <a:solidFill>
                  <a:srgbClr val="111827"/>
                </a:solidFill>
                <a:latin typeface="Arial"/>
              </a:rPr>
              <a:t> not borrowing keeps the balance sheet clean for a future equity round or a better-matched facility.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5257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Two risks leadership should monitor monthly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828800"/>
            <a:ext cx="5257800" cy="1965960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196596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965960"/>
            <a:ext cx="3840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938528"/>
            <a:ext cx="4526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Gross margin falling faster than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14016"/>
            <a:ext cx="49834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The plan already assumes 65% → 60%. Each extra point lost costs ≈$28k/month by M12.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00" b="1" i="0">
                <a:solidFill>
                  <a:srgbClr val="111827"/>
                </a:solidFill>
                <a:latin typeface="Arial"/>
              </a:rPr>
              <a:t>Watch:</a:t>
            </a:r>
            <a:r>
              <a:rPr sz="1000" b="0" i="0">
                <a:solidFill>
                  <a:srgbClr val="111827"/>
                </a:solidFill>
                <a:latin typeface="Arial"/>
              </a:rPr>
              <a:t> monthly gross margin %, cost per customer, cost per finished video.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00" b="1" i="0">
                <a:solidFill>
                  <a:srgbClr val="111827"/>
                </a:solidFill>
                <a:latin typeface="Arial"/>
              </a:rPr>
              <a:t>Act if:</a:t>
            </a:r>
            <a:r>
              <a:rPr sz="1000" b="0" i="0">
                <a:solidFill>
                  <a:srgbClr val="111827"/>
                </a:solidFill>
                <a:latin typeface="Arial"/>
              </a:rPr>
              <a:t> margin is below plan 2 months in a row → cost review (suppliers, AI tooling for content, pricing).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886200"/>
            <a:ext cx="5257800" cy="1965960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9400" y="402336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023360"/>
            <a:ext cx="3840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995928"/>
            <a:ext cx="4526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Growth and cash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71416"/>
            <a:ext cx="49834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6% monthly growth compounds; small slips add up. The model also assumes schools pay in the month invoiced: a 30-day delay would tie up about one month of revenue ($1.5M–$2.8M).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00" b="1" i="0">
                <a:solidFill>
                  <a:srgbClr val="111827"/>
                </a:solidFill>
                <a:latin typeface="Arial"/>
              </a:rPr>
              <a:t>Watch:</a:t>
            </a:r>
            <a:r>
              <a:rPr sz="1000" b="0" i="0">
                <a:solidFill>
                  <a:srgbClr val="111827"/>
                </a:solidFill>
                <a:latin typeface="Arial"/>
              </a:rPr>
              <a:t> monthly growth, sales pipeline, customer churn, days to collect payment.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1000" b="1" i="0">
                <a:solidFill>
                  <a:srgbClr val="111827"/>
                </a:solidFill>
                <a:latin typeface="Arial"/>
              </a:rPr>
              <a:t>Act if:</a:t>
            </a:r>
            <a:r>
              <a:rPr sz="1000" b="0" i="0">
                <a:solidFill>
                  <a:srgbClr val="111827"/>
                </a:solidFill>
                <a:latin typeface="Arial"/>
              </a:rPr>
              <a:t> growth is below 4% for 2 months → pause the M5–M6 hires and review the plan.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897880"/>
            <a:ext cx="5257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1">
                <a:solidFill>
                  <a:srgbClr val="6B7280"/>
                </a:solidFill>
                <a:latin typeface="Arial"/>
              </a:rPr>
              <a:t>Note: runway isn't a real constraint in this case. Luca generates $0.9–1.5M of cash every month (about $13.6M over the 12 months), and I don't have the company's overall cost base: the model only includes the 25 new hires, overhead and G&amp;A.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